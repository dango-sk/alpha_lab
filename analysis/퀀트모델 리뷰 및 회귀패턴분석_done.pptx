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2" r:id="rId3"/>
    <p:sldId id="281" r:id="rId4"/>
    <p:sldId id="288" r:id="rId5"/>
    <p:sldId id="258" r:id="rId6"/>
    <p:sldId id="260" r:id="rId7"/>
    <p:sldId id="264" r:id="rId8"/>
    <p:sldId id="265" r:id="rId9"/>
    <p:sldId id="261" r:id="rId10"/>
    <p:sldId id="262" r:id="rId11"/>
    <p:sldId id="26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8" r:id="rId20"/>
    <p:sldId id="273" r:id="rId21"/>
    <p:sldId id="274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5"/>
    <p:restoredTop sz="79116"/>
  </p:normalViewPr>
  <p:slideViewPr>
    <p:cSldViewPr snapToGrid="0" snapToObjects="1">
      <p:cViewPr>
        <p:scale>
          <a:sx n="97" d="100"/>
          <a:sy n="97" d="100"/>
        </p:scale>
        <p:origin x="1120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9218F-1DF2-8D41-BCFC-2EC4A5E38CF3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16018-85A4-954A-AB3E-7615D7F7AB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800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특정 종목 급락 시 전체 포트폴리오에 타격이 크기 때문에 최대 </a:t>
            </a:r>
            <a:r>
              <a:rPr kumimoji="1" lang="en-US" altLang="ko-KR" dirty="0"/>
              <a:t>10%</a:t>
            </a:r>
            <a:r>
              <a:rPr kumimoji="1" lang="ko-KR" altLang="en-US" dirty="0"/>
              <a:t> 캡 </a:t>
            </a:r>
            <a:r>
              <a:rPr kumimoji="1" lang="ko-KR" altLang="en-US" dirty="0" err="1"/>
              <a:t>적용되어있음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차별화라는 건 추정치 변화 방향에 대한 지표 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성장 자체에 대한 </a:t>
            </a:r>
            <a:r>
              <a:rPr kumimoji="1" lang="ko-KR" altLang="en-US" dirty="0" err="1"/>
              <a:t>팩터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성장 방향에 대한 </a:t>
            </a:r>
            <a:r>
              <a:rPr kumimoji="1" lang="ko-KR" altLang="en-US" dirty="0" err="1"/>
              <a:t>팩터가</a:t>
            </a:r>
            <a:r>
              <a:rPr kumimoji="1" lang="ko-KR" altLang="en-US" dirty="0"/>
              <a:t> 곧 차별화 </a:t>
            </a:r>
            <a:endParaRPr kumimoji="1" lang="en-US" altLang="ko-KR" dirty="0"/>
          </a:p>
          <a:p>
            <a:r>
              <a:rPr kumimoji="1" lang="en-US" altLang="ko-KR" dirty="0" err="1"/>
              <a:t>f_eps_m</a:t>
            </a:r>
            <a:r>
              <a:rPr kumimoji="1" lang="en-US" altLang="ko-KR" dirty="0"/>
              <a:t> = (</a:t>
            </a:r>
            <a:r>
              <a:rPr kumimoji="1" lang="ko-KR" altLang="en-US" dirty="0"/>
              <a:t>현재 </a:t>
            </a:r>
            <a:r>
              <a:rPr kumimoji="1" lang="en-US" altLang="ko-KR" dirty="0"/>
              <a:t>Forward EPS - 3</a:t>
            </a:r>
            <a:r>
              <a:rPr kumimoji="1" lang="ko-KR" altLang="en-US" dirty="0"/>
              <a:t>개월 전 </a:t>
            </a:r>
            <a:r>
              <a:rPr kumimoji="1" lang="en-US" altLang="ko-KR" dirty="0"/>
              <a:t>Forward EPS) / |3</a:t>
            </a:r>
            <a:r>
              <a:rPr kumimoji="1" lang="ko-KR" altLang="en-US" dirty="0"/>
              <a:t>개월 전 </a:t>
            </a:r>
            <a:r>
              <a:rPr kumimoji="1" lang="en-US" altLang="ko-KR" dirty="0"/>
              <a:t>Forward EPS| × 100</a:t>
            </a:r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19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특정 종목 급락 시 전체 포트폴리오에 타격이 크기 때문에 최대 </a:t>
            </a:r>
            <a:r>
              <a:rPr kumimoji="1" lang="en-US" altLang="ko-KR" dirty="0"/>
              <a:t>10%</a:t>
            </a:r>
            <a:r>
              <a:rPr kumimoji="1" lang="ko-KR" altLang="en-US" dirty="0"/>
              <a:t> 캡 </a:t>
            </a:r>
            <a:r>
              <a:rPr kumimoji="1" lang="ko-KR" altLang="en-US" dirty="0" err="1"/>
              <a:t>적용되어있음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차별화라는 건 추정치 변화 방향에 대한 지표 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성장 자체에 대한 </a:t>
            </a:r>
            <a:r>
              <a:rPr kumimoji="1" lang="ko-KR" altLang="en-US" dirty="0" err="1"/>
              <a:t>팩터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성장 방향에 대한 </a:t>
            </a:r>
            <a:r>
              <a:rPr kumimoji="1" lang="ko-KR" altLang="en-US" dirty="0" err="1"/>
              <a:t>팩터가</a:t>
            </a:r>
            <a:r>
              <a:rPr kumimoji="1" lang="ko-KR" altLang="en-US" dirty="0"/>
              <a:t> 곧 차별화 </a:t>
            </a:r>
            <a:endParaRPr kumimoji="1" lang="en-US" altLang="ko-KR" dirty="0"/>
          </a:p>
          <a:p>
            <a:r>
              <a:rPr kumimoji="1" lang="en-US" altLang="ko-KR" dirty="0" err="1"/>
              <a:t>f_eps_m</a:t>
            </a:r>
            <a:r>
              <a:rPr kumimoji="1" lang="en-US" altLang="ko-KR" dirty="0"/>
              <a:t> = (</a:t>
            </a:r>
            <a:r>
              <a:rPr kumimoji="1" lang="ko-KR" altLang="en-US" dirty="0"/>
              <a:t>현재 </a:t>
            </a:r>
            <a:r>
              <a:rPr kumimoji="1" lang="en-US" altLang="ko-KR" dirty="0"/>
              <a:t>Forward EPS - 3</a:t>
            </a:r>
            <a:r>
              <a:rPr kumimoji="1" lang="ko-KR" altLang="en-US" dirty="0"/>
              <a:t>개월 전 </a:t>
            </a:r>
            <a:r>
              <a:rPr kumimoji="1" lang="en-US" altLang="ko-KR" dirty="0"/>
              <a:t>Forward EPS) / |3</a:t>
            </a:r>
            <a:r>
              <a:rPr kumimoji="1" lang="ko-KR" altLang="en-US" dirty="0"/>
              <a:t>개월 전 </a:t>
            </a:r>
            <a:r>
              <a:rPr kumimoji="1" lang="en-US" altLang="ko-KR" dirty="0"/>
              <a:t>Forward EPS| × 100</a:t>
            </a:r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19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방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PER =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주가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/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EPS (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주당순이익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감가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상각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방법을 변경하거나 충당금을 조정하는 등의 회계 처리 방식에 의한 변경이 존재 가능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아래가 대안 </a:t>
            </a:r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pPr algn="l"/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PCF =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주가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/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주당영업현금흐름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CFPS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</a:p>
          <a:p>
            <a:pPr algn="l"/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단순히 </a:t>
            </a:r>
            <a:r>
              <a:rPr kumimoji="1" lang="en-US" altLang="ko-KR" b="0" i="0" dirty="0" err="1">
                <a:solidFill>
                  <a:srgbClr val="616161"/>
                </a:solidFill>
                <a:effectLst/>
                <a:latin typeface="-apple-system"/>
              </a:rPr>
              <a:t>pbr</a:t>
            </a:r>
            <a:r>
              <a:rPr kumimoji="1"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 낮다가 아니라</a:t>
            </a:r>
            <a:r>
              <a:rPr kumimoji="1"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</a:t>
            </a:r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같은 수익성 </a:t>
            </a:r>
            <a:r>
              <a:rPr kumimoji="1"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(roe) </a:t>
            </a:r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수준의 기업들과 비교해서 싼 것이라는 개념이 한단계 더 복잡한 방식의 </a:t>
            </a:r>
            <a:r>
              <a:rPr kumimoji="1"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밸류</a:t>
            </a:r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kumimoji="1"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팩터</a:t>
            </a:r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endParaRPr kumimoji="1"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pPr algn="l"/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1438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전체 </a:t>
            </a:r>
            <a:r>
              <a:rPr kumimoji="1" lang="en-US" altLang="ko-KR" dirty="0" err="1"/>
              <a:t>kospi</a:t>
            </a:r>
            <a:r>
              <a:rPr kumimoji="1" lang="en-US" altLang="ko-KR" dirty="0"/>
              <a:t> </a:t>
            </a:r>
            <a:r>
              <a:rPr kumimoji="1" lang="ko-KR" altLang="en-US" dirty="0"/>
              <a:t>중 </a:t>
            </a:r>
            <a:r>
              <a:rPr kumimoji="1" lang="ko-KR" altLang="en-US" dirty="0" err="1"/>
              <a:t>시총이</a:t>
            </a:r>
            <a:r>
              <a:rPr kumimoji="1" lang="ko-KR" altLang="en-US" dirty="0"/>
              <a:t> </a:t>
            </a:r>
            <a:r>
              <a:rPr kumimoji="1" lang="en-US" altLang="ko-KR" dirty="0"/>
              <a:t>5</a:t>
            </a:r>
            <a:r>
              <a:rPr kumimoji="1" lang="ko-KR" altLang="en-US" dirty="0" err="1"/>
              <a:t>천억언</a:t>
            </a:r>
            <a:r>
              <a:rPr kumimoji="1" lang="ko-KR" altLang="en-US" dirty="0"/>
              <a:t> 이상이면서 </a:t>
            </a:r>
            <a:r>
              <a:rPr kumimoji="1" lang="en-US" altLang="ko-KR" dirty="0"/>
              <a:t>, </a:t>
            </a:r>
            <a:r>
              <a:rPr kumimoji="1" lang="ko-KR" altLang="en-US" dirty="0"/>
              <a:t>제외업종에 </a:t>
            </a:r>
            <a:r>
              <a:rPr kumimoji="1" lang="ko-KR" altLang="en-US" dirty="0" err="1"/>
              <a:t>해당하지않고</a:t>
            </a:r>
            <a:r>
              <a:rPr kumimoji="1" lang="ko-KR" altLang="en-US" dirty="0"/>
              <a:t> </a:t>
            </a:r>
            <a:r>
              <a:rPr kumimoji="1" lang="en-US" altLang="ko-KR" dirty="0"/>
              <a:t>,</a:t>
            </a:r>
            <a:r>
              <a:rPr kumimoji="1" lang="ko-KR" altLang="en-US" dirty="0"/>
              <a:t> 퀄리티 필터를 통과해야 유니버스에 잡힘 </a:t>
            </a:r>
            <a:endParaRPr kumimoji="1" lang="en-US" altLang="ko-KR" dirty="0"/>
          </a:p>
          <a:p>
            <a:r>
              <a:rPr kumimoji="1" lang="ko-KR" altLang="en-US" dirty="0"/>
              <a:t>부채 비율 </a:t>
            </a:r>
            <a:r>
              <a:rPr kumimoji="1" lang="en-US" altLang="ko-KR" dirty="0"/>
              <a:t>=</a:t>
            </a:r>
            <a:r>
              <a:rPr kumimoji="1" lang="ko-KR" altLang="en-US" dirty="0"/>
              <a:t> 부채 </a:t>
            </a:r>
            <a:r>
              <a:rPr kumimoji="1" lang="en-US" altLang="ko-KR" dirty="0"/>
              <a:t>/</a:t>
            </a:r>
            <a:r>
              <a:rPr kumimoji="1" lang="ko-KR" altLang="en-US" dirty="0"/>
              <a:t> 자기자본이 </a:t>
            </a:r>
            <a:r>
              <a:rPr kumimoji="1" lang="en-US" altLang="ko-KR" dirty="0"/>
              <a:t>2</a:t>
            </a:r>
            <a:r>
              <a:rPr kumimoji="1" lang="ko-KR" altLang="en-US" dirty="0"/>
              <a:t>배 이상이면 탈락 </a:t>
            </a:r>
            <a:endParaRPr kumimoji="1" lang="en-US" altLang="ko-KR" dirty="0"/>
          </a:p>
          <a:p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2026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년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월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리밸런싱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시점이면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가장 최근 발표된 분기 실적인 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2025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년 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4</a:t>
            </a:r>
            <a:r>
              <a:rPr lang="en" altLang="ko-KR" b="1" i="0" dirty="0">
                <a:solidFill>
                  <a:srgbClr val="616161"/>
                </a:solidFill>
                <a:effectLst/>
                <a:latin typeface="-apple-system"/>
              </a:rPr>
              <a:t>Q (10~12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월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영업이익을 보고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그게 적자면 제외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최근 한분기가 적자면 제외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</a:p>
          <a:p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시장 충격 피하기 위해서 일 평균 거래 대금이 </a:t>
            </a:r>
            <a:r>
              <a:rPr kumimoji="1"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5</a:t>
            </a:r>
            <a:r>
              <a:rPr kumimoji="1"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억원 미만이면 제외 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011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2021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상승장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2022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금리인상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하락장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2023~24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회복기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2025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횡보장</a:t>
            </a:r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최소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1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번의 상승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하락 사이클을 포함하는 적정 기간으로 판단하여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5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년으로 잡음 </a:t>
            </a:r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기간이 너무 짧게 되면 전략을 검증하는 과정에서 특정 장세에 너무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오버피팅할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수 있고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너무 길면 산업 구조가 변화된 케이스까지 포함해서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의미있는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전략인데도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유효성이 떨어질 수 있음 </a:t>
            </a:r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기관 투자자 기준 실제 거래비용의 근사치인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30bp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를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기본으로 세팅했음 </a:t>
            </a:r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616161"/>
              </a:solidFill>
              <a:effectLst/>
              <a:latin typeface="-apple-system"/>
            </a:endParaRPr>
          </a:p>
          <a:p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endParaRPr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endParaRPr kumimoji="1" lang="en-US" altLang="ko-KR" b="0" i="0" dirty="0">
              <a:solidFill>
                <a:srgbClr val="616161"/>
              </a:solidFill>
              <a:effectLst/>
              <a:latin typeface="-apple-system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2165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2021</a:t>
            </a:r>
            <a:r>
              <a:rPr kumimoji="1" lang="ko-KR" altLang="en-US" dirty="0"/>
              <a:t>년 </a:t>
            </a:r>
            <a:r>
              <a:rPr kumimoji="1" lang="en-US" altLang="ko-KR" dirty="0"/>
              <a:t>1</a:t>
            </a:r>
            <a:r>
              <a:rPr kumimoji="1" lang="ko-KR" altLang="en-US" dirty="0"/>
              <a:t>월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일부터 </a:t>
            </a:r>
            <a:r>
              <a:rPr kumimoji="1" lang="en-US" altLang="ko-KR" dirty="0"/>
              <a:t>2026</a:t>
            </a:r>
            <a:r>
              <a:rPr kumimoji="1" lang="ko-KR" altLang="en-US" dirty="0"/>
              <a:t>년 </a:t>
            </a:r>
            <a:r>
              <a:rPr kumimoji="1" lang="en-US" altLang="ko-KR" dirty="0"/>
              <a:t>3</a:t>
            </a:r>
            <a:r>
              <a:rPr kumimoji="1" lang="ko-KR" altLang="en-US" dirty="0"/>
              <a:t>월 </a:t>
            </a:r>
            <a:r>
              <a:rPr kumimoji="1" lang="en-US" altLang="ko-KR" dirty="0"/>
              <a:t>6</a:t>
            </a:r>
            <a:r>
              <a:rPr kumimoji="1" lang="ko-KR" altLang="en-US" dirty="0"/>
              <a:t>일까지의 기존 </a:t>
            </a:r>
            <a:r>
              <a:rPr kumimoji="1" lang="ko-KR" altLang="en-US" dirty="0" err="1"/>
              <a:t>스크리닝</a:t>
            </a:r>
            <a:r>
              <a:rPr kumimoji="1" lang="ko-KR" altLang="en-US" dirty="0"/>
              <a:t> 전략의 성과 </a:t>
            </a:r>
            <a:endParaRPr kumimoji="1" lang="en-US" altLang="ko-KR" dirty="0"/>
          </a:p>
          <a:p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월평균 수익률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1.59%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: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1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월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+3%, 2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월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-1%, 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월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+2%...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이런 식으로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63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개월치를 다 더하고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63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으로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나눈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단순 산술평균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5</a:t>
            </a:r>
            <a:r>
              <a:rPr kumimoji="1" lang="ko-KR" altLang="en-US" dirty="0"/>
              <a:t>년간 누적 수익률이 </a:t>
            </a:r>
            <a:r>
              <a:rPr kumimoji="1" lang="en-US" altLang="ko-KR" dirty="0"/>
              <a:t>140%</a:t>
            </a:r>
            <a:r>
              <a:rPr kumimoji="1" lang="ko-KR" altLang="en-US" dirty="0"/>
              <a:t> 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벤치마크 대비 </a:t>
            </a:r>
            <a:r>
              <a:rPr kumimoji="1" lang="en-US" altLang="ko-KR" dirty="0"/>
              <a:t>33%p </a:t>
            </a:r>
            <a:r>
              <a:rPr kumimoji="1" lang="ko-KR" altLang="en-US" dirty="0"/>
              <a:t>초과 성과를 보였고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sharpe</a:t>
            </a:r>
            <a:r>
              <a:rPr kumimoji="1" lang="ko-KR" altLang="en-US" dirty="0"/>
              <a:t>도 </a:t>
            </a:r>
            <a:r>
              <a:rPr kumimoji="1" lang="en-US" altLang="ko-KR" dirty="0"/>
              <a:t>0.87</a:t>
            </a:r>
            <a:r>
              <a:rPr kumimoji="1" lang="ko-KR" altLang="en-US" dirty="0"/>
              <a:t>로 위험 대비 효율이 좋은 편 </a:t>
            </a:r>
            <a:endParaRPr kumimoji="1" lang="en-US" altLang="ko-KR" dirty="0"/>
          </a:p>
          <a:p>
            <a:r>
              <a:rPr kumimoji="1" lang="ko-KR" altLang="en-US" dirty="0"/>
              <a:t>하지만 </a:t>
            </a:r>
            <a:r>
              <a:rPr kumimoji="1" lang="en-US" altLang="ko-KR" dirty="0" err="1"/>
              <a:t>mdd</a:t>
            </a:r>
            <a:r>
              <a:rPr kumimoji="1" lang="en-US" altLang="ko-KR" dirty="0"/>
              <a:t> 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-34%</a:t>
            </a:r>
            <a:r>
              <a:rPr kumimoji="1" lang="ko-KR" altLang="en-US" dirty="0"/>
              <a:t> 로 </a:t>
            </a:r>
            <a:r>
              <a:rPr kumimoji="1" lang="en-US" altLang="ko-KR" dirty="0" err="1"/>
              <a:t>kospi</a:t>
            </a:r>
            <a:r>
              <a:rPr kumimoji="1" lang="ko-KR" altLang="en-US" dirty="0"/>
              <a:t>와 비슷한 수준의 낙폭을 보이고 있음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*월 승률은 총 </a:t>
            </a:r>
            <a:r>
              <a:rPr kumimoji="1" lang="en-US" altLang="ko-KR" dirty="0"/>
              <a:t>63</a:t>
            </a:r>
            <a:r>
              <a:rPr kumimoji="1" lang="ko-KR" altLang="en-US" dirty="0"/>
              <a:t>개월 중에 수익이 양인 개월의 비율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연환산</a:t>
            </a:r>
            <a:r>
              <a:rPr kumimoji="1" lang="ko-KR" altLang="en-US" dirty="0"/>
              <a:t> 변동성은 뭐지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63</a:t>
            </a:r>
            <a:r>
              <a:rPr kumimoji="1" lang="ko-KR" altLang="en-US" dirty="0"/>
              <a:t>개월의 월별 수익률의 편차 구하고 루트 </a:t>
            </a:r>
            <a:r>
              <a:rPr kumimoji="1" lang="en-US" altLang="ko-KR" dirty="0"/>
              <a:t>12</a:t>
            </a:r>
            <a:r>
              <a:rPr kumimoji="1" lang="ko-KR" altLang="en-US" dirty="0"/>
              <a:t>한 값  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dirty="0"/>
              <a:t>MDD -34%</a:t>
            </a:r>
            <a:r>
              <a:rPr kumimoji="1" lang="ko-KR" altLang="en-US" dirty="0"/>
              <a:t>의 의미는 뭐지</a:t>
            </a:r>
            <a:r>
              <a:rPr kumimoji="1" lang="en-US" altLang="ko-KR" dirty="0"/>
              <a:t>?</a:t>
            </a:r>
            <a:r>
              <a:rPr kumimoji="1" lang="ko-KR" altLang="en-US" dirty="0"/>
              <a:t> 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지금까지의 최고점 대비 얼마나 빠졌나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를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계산하고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63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 중 가장 큰 하락이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-34.9%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회전율 </a:t>
            </a:r>
            <a:r>
              <a:rPr kumimoji="1" lang="en-US" altLang="ko-KR" dirty="0"/>
              <a:t>27%</a:t>
            </a:r>
            <a:r>
              <a:rPr kumimoji="1" lang="ko-KR" altLang="en-US" dirty="0"/>
              <a:t>의 의미는 뭐지</a:t>
            </a:r>
            <a:r>
              <a:rPr kumimoji="1" lang="en-US" altLang="ko-KR" dirty="0"/>
              <a:t>?</a:t>
            </a:r>
            <a:r>
              <a:rPr kumimoji="1" lang="ko-KR" altLang="en-US" dirty="0"/>
              <a:t> 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매월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리밸런싱할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때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30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종목 중 약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8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(27%)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가 교체된다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0131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시장이 떨어질 때 덜 떨어진다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KOSPI</a:t>
            </a:r>
            <a:r>
              <a:rPr kumimoji="1" lang="ko-KR" altLang="en-US" dirty="0"/>
              <a:t>가 하락한 총 </a:t>
            </a:r>
            <a:r>
              <a:rPr kumimoji="1" lang="en-US" altLang="ko-KR" dirty="0"/>
              <a:t>27</a:t>
            </a:r>
            <a:r>
              <a:rPr kumimoji="1" lang="ko-KR" altLang="en-US" dirty="0"/>
              <a:t>번 중 </a:t>
            </a:r>
            <a:r>
              <a:rPr kumimoji="1" lang="en-US" altLang="ko-KR" dirty="0"/>
              <a:t>2/3</a:t>
            </a:r>
            <a:r>
              <a:rPr kumimoji="1" lang="ko-KR" altLang="en-US" dirty="0"/>
              <a:t>는 </a:t>
            </a:r>
            <a:r>
              <a:rPr kumimoji="1" lang="en-US" altLang="ko-KR" dirty="0" err="1"/>
              <a:t>kospi</a:t>
            </a:r>
            <a:r>
              <a:rPr kumimoji="1" lang="ko-KR" altLang="en-US" dirty="0"/>
              <a:t>보다 덜 빠졌음</a:t>
            </a:r>
            <a:endParaRPr kumimoji="1" lang="en-US" altLang="ko-KR" dirty="0"/>
          </a:p>
          <a:p>
            <a:r>
              <a:rPr kumimoji="1" lang="ko-KR" altLang="en-US" dirty="0"/>
              <a:t>하지만 상승장에서 </a:t>
            </a:r>
            <a:r>
              <a:rPr kumimoji="1" lang="en-US" altLang="ko-KR" dirty="0" err="1"/>
              <a:t>kospi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따라가지 못하고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2022</a:t>
            </a:r>
            <a:r>
              <a:rPr kumimoji="1" lang="ko-KR" altLang="en-US" dirty="0"/>
              <a:t>년 같은 큰 하락장에서는 더 빠지기도 한다 </a:t>
            </a:r>
            <a:endParaRPr kumimoji="1" lang="en-US" altLang="ko-KR" dirty="0"/>
          </a:p>
          <a:p>
            <a:r>
              <a:rPr kumimoji="1" lang="ko-KR" altLang="en-US" dirty="0"/>
              <a:t>때문에 </a:t>
            </a:r>
            <a:r>
              <a:rPr kumimoji="1" lang="ko-KR" altLang="en-US" dirty="0" err="1"/>
              <a:t>아무때나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년간 투자했다고 가정을 하면 반반으로 이겼다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911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여기서 승률은 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롱숏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 포트폴리오가 월간 플러스 수익을 낸 비율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입니다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예를 들어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Forward EPS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모멘텀 승률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60%: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63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개월 중 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38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개월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은 롱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상위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20%) &gt;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숏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하위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20%) →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팩터가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작동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25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개월은 숏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&gt;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롱 →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팩터가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안 먹힘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8566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이 종목 실적 전망이 안 좋아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라는 신호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차별화 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-15%)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보다 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이 종목 엄청 싸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라는 신호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밸류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+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회귀 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+65%)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가 훨씬 크게 작용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해서 결국 포트폴리오에 편입되는 겁니다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0869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TOP 5</a:t>
            </a:r>
            <a:r>
              <a:rPr kumimoji="1" lang="ko-KR" altLang="en-US" dirty="0"/>
              <a:t>로 봐야 임팩트가 크면서도 개선 가능성이 있는 부분을 찾을 수 있을 거라 생각해서 그렇게 봤다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밸류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팩터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특성상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PER/PBR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 낮은 업종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금융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운송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에너지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 계속 상위에 오르기 때문입니다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같은 업종이 동시에 빠지면 포트폴리오 전체가 타격을 받는 구조입니다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업황 악화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사이클 하락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정책 리스크 등 구조적 문제가 있어서 싸게 거래되는 건데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밸류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팩터만으로는 이걸 구분 못 합니다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대표적으로 </a:t>
            </a:r>
            <a:r>
              <a:rPr lang="ko-KR" altLang="en-US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기아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가 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4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회로 가장 많이 등장했습니다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. </a:t>
            </a:r>
          </a:p>
          <a:p>
            <a:r>
              <a:rPr lang="en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PER 5~7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배로 싸 보이지만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, </a:t>
            </a:r>
            <a:r>
              <a:rPr lang="ko-KR" altLang="en-US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자동차 업황이 둔화될 때마다 반복적으로 하락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하는 패턴을 보였습니다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.</a:t>
            </a:r>
          </a:p>
          <a:p>
            <a:endParaRPr kumimoji="1" lang="en-US" altLang="ko-KR" b="0" i="1" u="none" strike="noStrike" dirty="0">
              <a:solidFill>
                <a:srgbClr val="3D3D3A"/>
              </a:solidFill>
              <a:effectLst/>
              <a:latin typeface="Anthropic Serif"/>
            </a:endParaRPr>
          </a:p>
          <a:p>
            <a:r>
              <a:rPr lang="en" altLang="ko-KR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HMM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도 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3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회 등장했는데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, </a:t>
            </a:r>
            <a:r>
              <a:rPr lang="en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PBR 0.3~0.5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배로 극단적 저평가처럼 보이지만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, </a:t>
            </a:r>
          </a:p>
          <a:p>
            <a:r>
              <a:rPr lang="ko-KR" altLang="en-US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해운 사이클 하락기에는 저</a:t>
            </a:r>
            <a:r>
              <a:rPr lang="en" altLang="ko-KR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PBR </a:t>
            </a:r>
            <a:r>
              <a:rPr lang="ko-KR" altLang="en-US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자체가 함정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이 됩니다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. </a:t>
            </a:r>
            <a:r>
              <a:rPr lang="ko-KR" altLang="en-US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싸다고 산 게 아니라</a:t>
            </a:r>
            <a:r>
              <a:rPr lang="en-US" altLang="ko-KR" b="0" i="1" u="none" strike="noStrike" dirty="0">
                <a:solidFill>
                  <a:srgbClr val="3D3D3A"/>
                </a:solidFill>
                <a:effectLst/>
                <a:latin typeface="Anthropic Serif"/>
              </a:rPr>
              <a:t>, </a:t>
            </a:r>
            <a:r>
              <a:rPr lang="ko-KR" altLang="en-US" b="1" i="1" u="none" strike="noStrike" dirty="0">
                <a:solidFill>
                  <a:srgbClr val="3D3D3A"/>
                </a:solidFill>
                <a:effectLst/>
                <a:latin typeface="Anthropic Serif"/>
              </a:rPr>
              <a:t>싸질 이유가 있었던 겁니다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8628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25%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캡을 걸면 이런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한계 종목이 잘리고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다른 업종의 우량 종목으로 대체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되니까 수익률이 오히려 올라가는 거죠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15%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까지 줄이면 성과가 떨어지는 건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금융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·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운송에서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좋은 종목까지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잘려나가기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때문입니다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2091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필터가 항상 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후행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합니다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빠질 때는 아직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개월이 안 됐으니 들고 있고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3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개월 찍힌 시점이 오히려 바닥 근처인 경우가 많아서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손실은 다 먹고 반등은 놓치는 겁니다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4359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1" i="0" u="none" strike="noStrike" dirty="0">
                <a:solidFill>
                  <a:srgbClr val="141413"/>
                </a:solidFill>
                <a:effectLst/>
                <a:latin typeface="Anthropic Serif"/>
              </a:rPr>
              <a:t>후행지표의 구체적 문제</a:t>
            </a:r>
          </a:p>
          <a:p>
            <a:r>
              <a:rPr lang="ko-KR" altLang="en-US" b="0" dirty="0">
                <a:effectLst/>
                <a:latin typeface="var(--font-claude-response)"/>
              </a:rPr>
              <a:t>📉 </a:t>
            </a:r>
            <a:r>
              <a:rPr lang="ko-KR" altLang="en-US" b="1" dirty="0">
                <a:effectLst/>
                <a:latin typeface="var(--font-claude-response)"/>
              </a:rPr>
              <a:t>하락 시작</a:t>
            </a:r>
            <a:r>
              <a:rPr lang="ko-KR" altLang="en-US" b="0" dirty="0">
                <a:effectLst/>
                <a:latin typeface="var(--font-claude-response)"/>
              </a:rPr>
              <a:t> → </a:t>
            </a:r>
            <a:r>
              <a:rPr lang="en-US" altLang="ko-KR" b="0" dirty="0">
                <a:effectLst/>
                <a:latin typeface="var(--font-claude-response)"/>
              </a:rPr>
              <a:t>12</a:t>
            </a:r>
            <a:r>
              <a:rPr lang="ko-KR" altLang="en-US" b="0" dirty="0">
                <a:effectLst/>
                <a:latin typeface="var(--font-claude-response)"/>
              </a:rPr>
              <a:t>개월 평균은 아직 위에 있음 → </a:t>
            </a:r>
            <a:r>
              <a:rPr lang="ko-KR" altLang="en-US" b="1" dirty="0">
                <a:effectLst/>
                <a:latin typeface="var(--font-claude-response)"/>
              </a:rPr>
              <a:t>신호 안 나옴</a:t>
            </a:r>
            <a:r>
              <a:rPr lang="ko-KR" altLang="en-US" b="0" dirty="0">
                <a:effectLst/>
                <a:latin typeface="var(--font-claude-response)"/>
              </a:rPr>
              <a:t> → 손실 발생</a:t>
            </a:r>
          </a:p>
          <a:p>
            <a:r>
              <a:rPr lang="ko-KR" altLang="en-US" b="0" dirty="0">
                <a:effectLst/>
                <a:latin typeface="var(--font-claude-response)"/>
              </a:rPr>
              <a:t>📈 </a:t>
            </a:r>
            <a:r>
              <a:rPr lang="ko-KR" altLang="en-US" b="1" dirty="0">
                <a:effectLst/>
                <a:latin typeface="var(--font-claude-response)"/>
              </a:rPr>
              <a:t>반등 시작</a:t>
            </a:r>
            <a:r>
              <a:rPr lang="ko-KR" altLang="en-US" b="0" dirty="0">
                <a:effectLst/>
                <a:latin typeface="var(--font-claude-response)"/>
              </a:rPr>
              <a:t> → </a:t>
            </a:r>
            <a:r>
              <a:rPr lang="en-US" altLang="ko-KR" b="0" dirty="0">
                <a:effectLst/>
                <a:latin typeface="var(--font-claude-response)"/>
              </a:rPr>
              <a:t>12</a:t>
            </a:r>
            <a:r>
              <a:rPr lang="ko-KR" altLang="en-US" b="0" dirty="0">
                <a:effectLst/>
                <a:latin typeface="var(--font-claude-response)"/>
              </a:rPr>
              <a:t>개월 평균은 아직 아래에 있음 → </a:t>
            </a:r>
            <a:r>
              <a:rPr lang="ko-KR" altLang="en-US" b="1" dirty="0">
                <a:effectLst/>
                <a:latin typeface="var(--font-claude-response)"/>
              </a:rPr>
              <a:t>현금 유지</a:t>
            </a:r>
            <a:r>
              <a:rPr lang="ko-KR" altLang="en-US" b="0" dirty="0">
                <a:effectLst/>
                <a:latin typeface="var(--font-claude-response)"/>
              </a:rPr>
              <a:t> → 수익 놓침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0211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AI Agent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를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쓰려는 이유는 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레짐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 판단을 더 정교하게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하기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위해서입니다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단순 이동평균 대신 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금리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환율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변동성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(</a:t>
            </a:r>
            <a:r>
              <a:rPr lang="en" altLang="ko-KR" b="1" i="0" dirty="0">
                <a:solidFill>
                  <a:srgbClr val="616161"/>
                </a:solidFill>
                <a:effectLst/>
                <a:latin typeface="-apple-system"/>
              </a:rPr>
              <a:t>VIX),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거시지표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 등 복합 신호를 종합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지금이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하락장인가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?"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를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Yes/No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가 아니라 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확률적으로 판단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 → 현금 비중을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50%/70%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고정이 아니라 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동적으로 조절</a:t>
            </a:r>
            <a:endParaRPr lang="ko-KR" altLang="en-US" b="0" i="0" dirty="0">
              <a:solidFill>
                <a:srgbClr val="616161"/>
              </a:solidFill>
              <a:effectLst/>
              <a:latin typeface="-apple-system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7054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현재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퀀트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모델은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PER, PBR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같은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숫자 데이터만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봅니다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하지만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밸류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트랩이나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레짐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전환 같은 문제는 뉴스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공시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거시경제 흐름 같은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비정형 데이터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에 답이 있는 경우가 많습니다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그래서 다음 단계로 </a:t>
            </a:r>
            <a:r>
              <a:rPr lang="en" altLang="ko-KR" b="1" i="0" dirty="0">
                <a:solidFill>
                  <a:srgbClr val="616161"/>
                </a:solidFill>
                <a:effectLst/>
                <a:latin typeface="-apple-system"/>
              </a:rPr>
              <a:t>AI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에이전트 </a:t>
            </a:r>
            <a:r>
              <a:rPr lang="en-US" altLang="ko-KR" b="1" i="0" dirty="0">
                <a:solidFill>
                  <a:srgbClr val="616161"/>
                </a:solidFill>
                <a:effectLst/>
                <a:latin typeface="-apple-system"/>
              </a:rPr>
              <a:t>4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개가 각자 역할을 나눠서 분석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하는 구조를 구상하고 있습니다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하나는 재무제표를 깊게 보고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하나는 뉴스와 시장 심리를 읽고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하나는 거시경제와 글로벌 뉴스를 보고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하나는 기술적 지표를 봅니다</a:t>
            </a:r>
          </a:p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 네 에이전트의 분석을 바탕으로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강세론자와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약세론자가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 토론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을 합니다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일방적인 판단이 아니라 양쪽 근거를 부딪혀서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편향을 제거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하고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최종적으로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지금 시장이 강세일 확률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70%'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같은 </a:t>
            </a:r>
            <a:r>
              <a:rPr lang="ko-KR" altLang="en-US" b="1" i="0" dirty="0" err="1">
                <a:solidFill>
                  <a:srgbClr val="616161"/>
                </a:solidFill>
                <a:effectLst/>
                <a:latin typeface="-apple-system"/>
              </a:rPr>
              <a:t>확률값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을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산출합니다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 확률을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레짐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필터에 연결하면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지금처럼 이동평균 하나로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Yes/No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판단하는 게 아니라 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상황에 맞게 현금 비중을 유동적으로 조절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할 수 있습니다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."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2625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" altLang="ko-KR" b="1" i="0" dirty="0">
                <a:solidFill>
                  <a:srgbClr val="616161"/>
                </a:solidFill>
                <a:effectLst/>
                <a:latin typeface="-apple-system"/>
              </a:rPr>
              <a:t>IS (In-Sample)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: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 기간 데이터로 전략을 만들고 튜닝함 → 성과 좋은 게 당연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b="1" i="0" dirty="0">
                <a:solidFill>
                  <a:srgbClr val="616161"/>
                </a:solidFill>
                <a:effectLst/>
                <a:latin typeface="-apple-system"/>
              </a:rPr>
              <a:t>OOS (Out-of-Sample)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: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전략 만들 때 </a:t>
            </a:r>
            <a:r>
              <a:rPr lang="ko-KR" altLang="en-US" b="1" i="0" dirty="0">
                <a:solidFill>
                  <a:srgbClr val="616161"/>
                </a:solidFill>
                <a:effectLst/>
                <a:latin typeface="-apple-system"/>
              </a:rPr>
              <a:t>전혀 안 쓴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 기간에 돌려봄 → 여기서도 좋으면 진짜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6018-85A4-954A-AB3E-7615D7F7AB10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521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1F1F"/>
                </a:solidFill>
                <a:latin typeface="맑은 고딕"/>
              </a:defRPr>
            </a:pPr>
            <a:r>
              <a:t>퀀트 모델 리뷰 &amp; 회귀 팩터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이현자산운용</a:t>
            </a:r>
            <a:r>
              <a:rPr dirty="0"/>
              <a:t> </a:t>
            </a:r>
            <a:r>
              <a:rPr dirty="0" err="1"/>
              <a:t>미팅</a:t>
            </a:r>
            <a:r>
              <a:rPr dirty="0"/>
              <a:t> </a:t>
            </a:r>
            <a:r>
              <a:rPr dirty="0" err="1"/>
              <a:t>자료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맑은 고딕"/>
              </a:defRPr>
            </a:pPr>
            <a:r>
              <a:t>2026년 3월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873752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모델 소개 &amp; alpha_lab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이현자산운용의 기존 운용 모델과, 이를 웹뷰로 구현한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기존 모델 (이현자산운용)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이현자산운용이 운용해온 밸류 투자 스크리닝 모델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밸류 + 회귀 + 성장 + 차별화 4가지 팩터 기반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매월 KOSPI 유니버스에서 상위 30개 종목 선정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시총 비례 비중 + 최대 10% 캡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alpha_lab 웹뷰를 만든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이현 내부에서만 쓰던 모델을 누구나 접근 가능하게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AI 대화를 통해 자유롭게 모델 수정 및 백테스트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포함된 지표들이 무엇인지 즉시 확인 가능</a:t>
            </a:r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개발 지식 없이도 전략 실험 가능한 환경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1645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>
                <a:solidFill>
                  <a:srgbClr val="1F1F1F"/>
                </a:solidFill>
                <a:latin typeface="맑은 고딕"/>
              </a:defRPr>
            </a:pPr>
            <a:r>
              <a:rPr dirty="0"/>
              <a:t>이현자산운용의 4팩터 밸류 스크리닝 모델을 alpha_lab 웹뷰로 구현하여,</a:t>
            </a:r>
            <a:br>
              <a:rPr dirty="0"/>
            </a:br>
            <a:r>
              <a:rPr dirty="0"/>
              <a:t>누구나 AI 대화로 모델을 탐색·수정·백테스트할 수 있는 환경을 제공</a:t>
            </a:r>
          </a:p>
        </p:txBody>
      </p:sp>
    </p:spTree>
    <p:extLst>
      <p:ext uri="{BB962C8B-B14F-4D97-AF65-F5344CB8AC3E}">
        <p14:creationId xmlns:p14="http://schemas.microsoft.com/office/powerpoint/2010/main" val="218114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모델의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왜 만들었고, 무엇을 하는 모델인가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왜 만들었나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이현의</a:t>
            </a:r>
            <a:r>
              <a:rPr dirty="0"/>
              <a:t> </a:t>
            </a:r>
            <a:r>
              <a:rPr dirty="0" err="1"/>
              <a:t>밸류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프로세스를</a:t>
            </a:r>
            <a:r>
              <a:rPr dirty="0"/>
              <a:t> </a:t>
            </a:r>
            <a:r>
              <a:rPr dirty="0" err="1"/>
              <a:t>정량적</a:t>
            </a:r>
            <a:r>
              <a:rPr dirty="0"/>
              <a:t> </a:t>
            </a:r>
            <a:r>
              <a:rPr dirty="0" err="1"/>
              <a:t>모델로</a:t>
            </a:r>
            <a:r>
              <a:rPr dirty="0"/>
              <a:t> </a:t>
            </a:r>
            <a:r>
              <a:rPr dirty="0" err="1"/>
              <a:t>체계화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선정</a:t>
            </a:r>
            <a:r>
              <a:rPr dirty="0"/>
              <a:t> 시 </a:t>
            </a:r>
            <a:r>
              <a:rPr dirty="0" err="1"/>
              <a:t>주관적</a:t>
            </a:r>
            <a:r>
              <a:rPr dirty="0"/>
              <a:t> </a:t>
            </a:r>
            <a:r>
              <a:rPr dirty="0" err="1"/>
              <a:t>판단의</a:t>
            </a:r>
            <a:r>
              <a:rPr dirty="0"/>
              <a:t> </a:t>
            </a:r>
            <a:r>
              <a:rPr dirty="0" err="1"/>
              <a:t>편향을</a:t>
            </a:r>
            <a:r>
              <a:rPr dirty="0"/>
              <a:t> </a:t>
            </a:r>
            <a:r>
              <a:rPr dirty="0" err="1"/>
              <a:t>줄이고</a:t>
            </a:r>
            <a:r>
              <a:rPr dirty="0"/>
              <a:t>, </a:t>
            </a:r>
            <a:r>
              <a:rPr dirty="0" err="1"/>
              <a:t>일관된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적용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백테스트를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전략의</a:t>
            </a:r>
            <a:r>
              <a:rPr dirty="0"/>
              <a:t> </a:t>
            </a:r>
            <a:r>
              <a:rPr dirty="0" err="1"/>
              <a:t>유효성을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무엇을 하는 모델인가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매월</a:t>
            </a:r>
            <a:r>
              <a:rPr dirty="0"/>
              <a:t> 1회, KOSPI </a:t>
            </a:r>
            <a:r>
              <a:rPr dirty="0" err="1"/>
              <a:t>유니버스에서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30개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선정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선정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: </a:t>
            </a:r>
            <a:r>
              <a:rPr dirty="0" err="1"/>
              <a:t>밸류</a:t>
            </a:r>
            <a:r>
              <a:rPr dirty="0"/>
              <a:t> + </a:t>
            </a:r>
            <a:r>
              <a:rPr dirty="0" err="1"/>
              <a:t>회귀</a:t>
            </a:r>
            <a:r>
              <a:rPr dirty="0"/>
              <a:t> + </a:t>
            </a:r>
            <a:r>
              <a:rPr dirty="0" err="1"/>
              <a:t>성장</a:t>
            </a:r>
            <a:r>
              <a:rPr dirty="0"/>
              <a:t> + </a:t>
            </a:r>
            <a:r>
              <a:rPr dirty="0" err="1"/>
              <a:t>차별화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종목별</a:t>
            </a:r>
            <a:r>
              <a:rPr dirty="0"/>
              <a:t> </a:t>
            </a:r>
            <a:r>
              <a:rPr dirty="0" err="1"/>
              <a:t>비중은</a:t>
            </a:r>
            <a:r>
              <a:rPr dirty="0"/>
              <a:t> </a:t>
            </a:r>
            <a:r>
              <a:rPr dirty="0" err="1"/>
              <a:t>시총</a:t>
            </a:r>
            <a:r>
              <a:rPr dirty="0"/>
              <a:t> </a:t>
            </a:r>
            <a:r>
              <a:rPr dirty="0" err="1"/>
              <a:t>비례</a:t>
            </a:r>
            <a:r>
              <a:rPr dirty="0"/>
              <a:t> + </a:t>
            </a:r>
            <a:r>
              <a:rPr dirty="0" err="1"/>
              <a:t>최대</a:t>
            </a:r>
            <a:r>
              <a:rPr dirty="0"/>
              <a:t> 10% </a:t>
            </a:r>
            <a:r>
              <a:rPr dirty="0" err="1"/>
              <a:t>캡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1645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핵심</a:t>
            </a:r>
            <a:r>
              <a:rPr dirty="0"/>
              <a:t>: '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종목이</a:t>
            </a:r>
            <a:r>
              <a:rPr dirty="0"/>
              <a:t> </a:t>
            </a:r>
            <a:r>
              <a:rPr dirty="0" err="1"/>
              <a:t>저평가인가'를</a:t>
            </a:r>
            <a:r>
              <a:rPr dirty="0"/>
              <a:t> 4가지 </a:t>
            </a:r>
            <a:r>
              <a:rPr dirty="0" err="1"/>
              <a:t>관점에서</a:t>
            </a:r>
            <a:r>
              <a:rPr dirty="0"/>
              <a:t> </a:t>
            </a:r>
            <a:r>
              <a:rPr dirty="0" err="1"/>
              <a:t>점수화하여</a:t>
            </a:r>
            <a:br>
              <a:rPr dirty="0"/>
            </a:br>
            <a:r>
              <a:rPr dirty="0" err="1"/>
              <a:t>매월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30개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포트폴리오를</a:t>
            </a:r>
            <a:r>
              <a:rPr dirty="0"/>
              <a:t> </a:t>
            </a:r>
            <a:r>
              <a:rPr dirty="0" err="1"/>
              <a:t>구성하는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534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모델 구조 — 4가지 팩터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총점 = 밸류(35%) + 회귀(30%) + 성장(20%) + 차별화(15%)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00000"/>
          <a:ext cx="11247120" cy="31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팩터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보는 것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밸류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펀더멘털 대비 현재 주가가 싼가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지표별 전 종목 순위 → 사분위 점수(0~4)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→ 가중합산하여 종합 저평가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PER, PBR, EV/EBITDA, PCF (</a:t>
                      </a:r>
                      <a:r>
                        <a:rPr dirty="0" err="1"/>
                        <a:t>현재+Forward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회귀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수익성 대비 싼가 (회귀분석)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ROE↔PBR 등 회귀선 → 잔차(괴리도)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→ 괴리도 순위 → 사분위 점수(0~4)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PBR-ROE, EV/IC-ROIC, F.PER-</a:t>
                      </a:r>
                      <a:r>
                        <a:rPr dirty="0" err="1"/>
                        <a:t>이익성장</a:t>
                      </a:r>
                      <a:r>
                        <a:rPr dirty="0"/>
                        <a:t>, F.EV/EBIT-</a:t>
                      </a:r>
                      <a:r>
                        <a:rPr dirty="0" err="1"/>
                        <a:t>EBIT성장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회귀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성장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실적이 성장하고 있나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매출성장률 순위 → 사분위 점수(0~4)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→ 높을수록 높은 점수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매출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성장률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현재+Forward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차별화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이익 전망이 차별적으로 개선 중인가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EPS 컨센서스 변화율 순위</a:t>
                      </a:r>
                    </a:p>
                    <a:p>
                      <a:pPr algn="ctr">
                        <a:defRPr sz="1100">
                          <a:solidFill>
                            <a:srgbClr val="6B7280"/>
                          </a:solidFill>
                          <a:latin typeface="맑은 고딕"/>
                        </a:defRPr>
                      </a:pPr>
                      <a:r>
                        <a:t>→ 사분위 점수(0~4)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sz="1000" dirty="0"/>
                        <a:t>EPS 컨센서스 변화율 (모멘텀)</a:t>
                      </a:r>
                    </a:p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sz="1000" dirty="0"/>
                        <a:t>(현재 F.EPS − 3개월 전 F.EPS) / |3개월 전 F.EPS| × 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3940" y="4639240"/>
            <a:ext cx="10073640" cy="1400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rPr lang="ko-KR" dirty="0"/>
              <a:t>공통 채점 방식: 사분위(Quartile) 랭킹</a:t>
            </a:r>
          </a:p>
          <a:p>
            <a:pPr algn="ctr">
              <a:defRPr sz="1400">
                <a:solidFill>
                  <a:srgbClr val="1F1F1F"/>
                </a:solidFill>
                <a:latin typeface="맑은 고딕"/>
              </a:defRPr>
            </a:pPr>
            <a:r>
              <a:rPr lang="ko-KR" dirty="0"/>
              <a:t>모든 팩터 동일: 전 종목 순위 → 사분위 점수(0~4점) 부여 → 팩터별 가중합산 → 최종 점수</a:t>
            </a:r>
          </a:p>
          <a:p>
            <a:pPr algn="ctr">
              <a:defRPr sz="1300">
                <a:solidFill>
                  <a:srgbClr val="6B7280"/>
                </a:solidFill>
                <a:latin typeface="맑은 고딕"/>
              </a:defRPr>
            </a:pPr>
            <a:r>
              <a:rPr lang="ko-KR" dirty="0"/>
              <a:t>밸류는 '절대적으로 싼가', 회귀는 '수익성 감안 시 싼가'를 보는 차이</a:t>
            </a:r>
          </a:p>
        </p:txBody>
      </p:sp>
    </p:spTree>
    <p:extLst>
      <p:ext uri="{BB962C8B-B14F-4D97-AF65-F5344CB8AC3E}">
        <p14:creationId xmlns:p14="http://schemas.microsoft.com/office/powerpoint/2010/main" val="209292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데이터 소스 &amp; 유니버스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어디서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가져오고</a:t>
            </a:r>
            <a:r>
              <a:rPr dirty="0"/>
              <a:t>,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종목을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</a:t>
            </a:r>
            <a:r>
              <a:rPr dirty="0" err="1"/>
              <a:t>하는가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데이터 소스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432324"/>
              </p:ext>
            </p:extLst>
          </p:nvPr>
        </p:nvGraphicFramePr>
        <p:xfrm>
          <a:off x="457200" y="1920240"/>
          <a:ext cx="5029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소스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재무제표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FnSpace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PER, PBR, ROE, ROIC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컨센서스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FnSpace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EPS, Forward PER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주가/시총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FnSpace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일별 종가, 시가총액, 거래량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벤치마크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KOSPI 200 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비교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수익률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유니버스 정의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2024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시장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KOSPI만 (KOSDAQ 제외)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시총 하한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5천억 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유니버스 시총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5천억 ~ 500조 (삼성전자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유니버스 규모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680개 → 상위 30개 선정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제외 업종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금융업, SPAC, ETF, REIT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퀄리티 필터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부채비율</a:t>
                      </a:r>
                      <a:r>
                        <a:rPr dirty="0"/>
                        <a:t> 200% </a:t>
                      </a:r>
                      <a:r>
                        <a:rPr dirty="0" err="1"/>
                        <a:t>이하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적자</a:t>
                      </a:r>
                      <a:r>
                        <a:rPr dirty="0"/>
                        <a:t> 1Q </a:t>
                      </a:r>
                      <a:r>
                        <a:rPr dirty="0" err="1"/>
                        <a:t>이하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거래대금</a:t>
                      </a:r>
                      <a:r>
                        <a:rPr dirty="0"/>
                        <a:t> 5억+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백테스트 설정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2021.01 ~ 2026.03 (약 5년)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월</a:t>
                      </a:r>
                      <a:r>
                        <a:rPr dirty="0"/>
                        <a:t> 1회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종목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비중 방식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시총 비례 + 최대 10% 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거래비용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편도 30bp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벤치마크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KOSPI 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맑은 고딕"/>
              </a:defRPr>
            </a:pPr>
            <a:r>
              <a:t>비중 산출 방식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20240"/>
            <a:ext cx="530352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/>
              <a:t>①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비중</a:t>
            </a:r>
            <a:r>
              <a:rPr dirty="0"/>
              <a:t> =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시총</a:t>
            </a:r>
            <a:r>
              <a:rPr dirty="0"/>
              <a:t> / 30종목 </a:t>
            </a:r>
            <a:r>
              <a:rPr dirty="0" err="1"/>
              <a:t>시총</a:t>
            </a:r>
            <a:r>
              <a:rPr dirty="0"/>
              <a:t> </a:t>
            </a:r>
            <a:r>
              <a:rPr dirty="0" err="1"/>
              <a:t>합계</a:t>
            </a:r>
            <a:br>
              <a:rPr dirty="0"/>
            </a:br>
            <a:r>
              <a:rPr dirty="0"/>
              <a:t>   → </a:t>
            </a:r>
            <a:r>
              <a:rPr dirty="0" err="1"/>
              <a:t>시총이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종목일수록</a:t>
            </a:r>
            <a:r>
              <a:rPr dirty="0"/>
              <a:t> </a:t>
            </a:r>
            <a:r>
              <a:rPr dirty="0" err="1"/>
              <a:t>비중이</a:t>
            </a:r>
            <a:r>
              <a:rPr dirty="0"/>
              <a:t> </a:t>
            </a:r>
            <a:r>
              <a:rPr dirty="0" err="1"/>
              <a:t>높음</a:t>
            </a:r>
            <a:br>
              <a:rPr dirty="0"/>
            </a:br>
            <a:br>
              <a:rPr dirty="0"/>
            </a:br>
            <a:r>
              <a:rPr dirty="0"/>
              <a:t>②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비중</a:t>
            </a:r>
            <a:r>
              <a:rPr dirty="0"/>
              <a:t> </a:t>
            </a:r>
            <a:r>
              <a:rPr dirty="0" err="1"/>
              <a:t>상한</a:t>
            </a:r>
            <a:r>
              <a:rPr dirty="0"/>
              <a:t> 10% </a:t>
            </a:r>
            <a:r>
              <a:rPr dirty="0" err="1"/>
              <a:t>적용</a:t>
            </a:r>
            <a:br>
              <a:rPr dirty="0"/>
            </a:br>
            <a:r>
              <a:rPr dirty="0"/>
              <a:t>   → 10%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종목의</a:t>
            </a:r>
            <a:r>
              <a:rPr dirty="0"/>
              <a:t> </a:t>
            </a:r>
            <a:r>
              <a:rPr dirty="0" err="1"/>
              <a:t>초과분을</a:t>
            </a:r>
            <a:r>
              <a:rPr dirty="0"/>
              <a:t> </a:t>
            </a:r>
            <a:r>
              <a:rPr dirty="0" err="1"/>
              <a:t>나머지에</a:t>
            </a:r>
            <a:r>
              <a:rPr dirty="0"/>
              <a:t> </a:t>
            </a:r>
            <a:r>
              <a:rPr dirty="0" err="1"/>
              <a:t>재배분</a:t>
            </a:r>
            <a:br>
              <a:rPr dirty="0"/>
            </a:br>
            <a:r>
              <a:rPr dirty="0"/>
              <a:t>   → </a:t>
            </a:r>
            <a:r>
              <a:rPr dirty="0" err="1"/>
              <a:t>수렴할</a:t>
            </a:r>
            <a:r>
              <a:rPr dirty="0"/>
              <a:t> </a:t>
            </a:r>
            <a:r>
              <a:rPr dirty="0" err="1"/>
              <a:t>때까지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(</a:t>
            </a:r>
            <a:r>
              <a:rPr dirty="0" err="1"/>
              <a:t>최대</a:t>
            </a:r>
            <a:r>
              <a:rPr dirty="0"/>
              <a:t> 20회)</a:t>
            </a:r>
            <a:br>
              <a:rPr dirty="0"/>
            </a:br>
            <a:br>
              <a:rPr dirty="0"/>
            </a:br>
            <a:r>
              <a:rPr dirty="0"/>
              <a:t>③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예시</a:t>
            </a:r>
            <a:r>
              <a:rPr dirty="0"/>
              <a:t> (30종목 </a:t>
            </a:r>
            <a:r>
              <a:rPr dirty="0" err="1"/>
              <a:t>기준</a:t>
            </a:r>
            <a:r>
              <a:rPr dirty="0"/>
              <a:t>)</a:t>
            </a:r>
            <a:br>
              <a:rPr dirty="0"/>
            </a:br>
            <a:r>
              <a:rPr dirty="0"/>
              <a:t>   → </a:t>
            </a:r>
            <a:r>
              <a:rPr dirty="0" err="1"/>
              <a:t>균등이면</a:t>
            </a:r>
            <a:r>
              <a:rPr dirty="0"/>
              <a:t> 3.3%씩 / </a:t>
            </a:r>
            <a:r>
              <a:rPr dirty="0" err="1"/>
              <a:t>실제는</a:t>
            </a:r>
            <a:r>
              <a:rPr dirty="0"/>
              <a:t> 1~10% </a:t>
            </a:r>
            <a:r>
              <a:rPr dirty="0" err="1"/>
              <a:t>분포</a:t>
            </a:r>
            <a:br>
              <a:rPr dirty="0"/>
            </a:br>
            <a:r>
              <a:rPr dirty="0"/>
              <a:t>   → </a:t>
            </a:r>
            <a:r>
              <a:rPr dirty="0" err="1"/>
              <a:t>삼성전자</a:t>
            </a:r>
            <a:r>
              <a:rPr dirty="0"/>
              <a:t> </a:t>
            </a:r>
            <a:r>
              <a:rPr dirty="0" err="1"/>
              <a:t>등</a:t>
            </a:r>
            <a:r>
              <a:rPr dirty="0"/>
              <a:t> </a:t>
            </a:r>
            <a:r>
              <a:rPr dirty="0" err="1"/>
              <a:t>대형주가</a:t>
            </a:r>
            <a:r>
              <a:rPr dirty="0"/>
              <a:t> 10%에 </a:t>
            </a:r>
            <a:r>
              <a:rPr dirty="0" err="1"/>
              <a:t>캡핑됨</a:t>
            </a:r>
            <a:br>
              <a:rPr dirty="0"/>
            </a:br>
            <a:br>
              <a:rPr dirty="0"/>
            </a:br>
            <a:r>
              <a:rPr dirty="0"/>
              <a:t>④ </a:t>
            </a:r>
            <a:r>
              <a:rPr dirty="0" err="1"/>
              <a:t>회전율</a:t>
            </a:r>
            <a:r>
              <a:rPr dirty="0"/>
              <a:t> = (</a:t>
            </a:r>
            <a:r>
              <a:rPr dirty="0" err="1"/>
              <a:t>편입+편출</a:t>
            </a:r>
            <a:r>
              <a:rPr dirty="0"/>
              <a:t>) / (2×종목수)</a:t>
            </a:r>
            <a:br>
              <a:rPr dirty="0"/>
            </a:br>
            <a:r>
              <a:rPr dirty="0"/>
              <a:t>   → </a:t>
            </a:r>
            <a:r>
              <a:rPr dirty="0" err="1"/>
              <a:t>매월</a:t>
            </a:r>
            <a:r>
              <a:rPr dirty="0"/>
              <a:t> </a:t>
            </a:r>
            <a:r>
              <a:rPr dirty="0" err="1"/>
              <a:t>리밸런싱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교체된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비율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기존전략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 </a:t>
            </a:r>
            <a:r>
              <a:rPr dirty="0" err="1"/>
              <a:t>요약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2021.01 ~ 2026.03 (63개월)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>
                <a:solidFill>
                  <a:srgbClr val="6B7280"/>
                </a:solidFill>
                <a:latin typeface="맑은 고딕"/>
              </a:defRPr>
            </a:pPr>
            <a:r>
              <a:t>누적수익률</a:t>
            </a:r>
          </a:p>
          <a:p>
            <a:pPr>
              <a:defRPr sz="2800" b="1">
                <a:solidFill>
                  <a:srgbClr val="057A55"/>
                </a:solidFill>
                <a:latin typeface="맑은 고딕"/>
              </a:defRPr>
            </a:pPr>
            <a:r>
              <a:t>+140.1%</a:t>
            </a:r>
          </a:p>
          <a:p>
            <a:pPr>
              <a:defRPr sz="1100">
                <a:solidFill>
                  <a:srgbClr val="9CA3AF"/>
                </a:solidFill>
                <a:latin typeface="맑은 고딕"/>
              </a:defRPr>
            </a:pPr>
            <a:r>
              <a:t>KOSPI +107.3%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554480"/>
            <a:ext cx="265176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>
                <a:solidFill>
                  <a:srgbClr val="6B7280"/>
                </a:solidFill>
                <a:latin typeface="맑은 고딕"/>
              </a:defRPr>
            </a:pPr>
            <a:r>
              <a:t>CAGR</a:t>
            </a:r>
          </a:p>
          <a:p>
            <a:pPr>
              <a:defRPr sz="2800" b="1">
                <a:solidFill>
                  <a:srgbClr val="057A55"/>
                </a:solidFill>
                <a:latin typeface="맑은 고딕"/>
              </a:defRPr>
            </a:pPr>
            <a:r>
              <a:t>18.2%</a:t>
            </a:r>
          </a:p>
          <a:p>
            <a:pPr>
              <a:defRPr sz="1100">
                <a:solidFill>
                  <a:srgbClr val="9CA3AF"/>
                </a:solidFill>
                <a:latin typeface="맑은 고딕"/>
              </a:defRPr>
            </a:pPr>
            <a:r>
              <a:t>KOSPI 14.9%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65176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>
                <a:solidFill>
                  <a:srgbClr val="6B7280"/>
                </a:solidFill>
                <a:latin typeface="맑은 고딕"/>
              </a:defRPr>
            </a:pPr>
            <a:r>
              <a:t>Sharpe Ratio</a:t>
            </a:r>
          </a:p>
          <a:p>
            <a:pPr>
              <a:defRPr sz="2800" b="1">
                <a:solidFill>
                  <a:srgbClr val="057A55"/>
                </a:solidFill>
                <a:latin typeface="맑은 고딕"/>
              </a:defRPr>
            </a:pPr>
            <a:r>
              <a:t>0.872</a:t>
            </a:r>
          </a:p>
          <a:p>
            <a:pPr>
              <a:defRPr sz="1100">
                <a:solidFill>
                  <a:srgbClr val="9CA3AF"/>
                </a:solidFill>
                <a:latin typeface="맑은 고딕"/>
              </a:defRPr>
            </a:pPr>
            <a:r>
              <a:t>KOSPI 0.703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554480"/>
            <a:ext cx="265176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>
                <a:solidFill>
                  <a:srgbClr val="6B7280"/>
                </a:solidFill>
                <a:latin typeface="맑은 고딕"/>
              </a:defRPr>
            </a:pPr>
            <a:r>
              <a:t>MDD</a:t>
            </a:r>
          </a:p>
          <a:p>
            <a:pPr>
              <a:defRPr sz="2800" b="1">
                <a:solidFill>
                  <a:srgbClr val="C81E1E"/>
                </a:solidFill>
                <a:latin typeface="맑은 고딕"/>
              </a:defRPr>
            </a:pPr>
            <a:r>
              <a:t>-34.9%</a:t>
            </a:r>
          </a:p>
          <a:p>
            <a:pPr>
              <a:defRPr sz="1100">
                <a:solidFill>
                  <a:srgbClr val="9CA3AF"/>
                </a:solidFill>
                <a:latin typeface="맑은 고딕"/>
              </a:defRPr>
            </a:pPr>
            <a:r>
              <a:t>KOSPI -33.9%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월 승률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월평균 수익률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+1.59%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연환산 변동성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21.9%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평균 회전율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맑은 고딕"/>
              </a:defRPr>
            </a:pPr>
            <a:r>
              <a:t>연도별 성과 비교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045616"/>
              </p:ext>
            </p:extLst>
          </p:nvPr>
        </p:nvGraphicFramePr>
        <p:xfrm>
          <a:off x="457200" y="3855720"/>
          <a:ext cx="9875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연도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KOSPI200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초과수익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+20.6%p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2022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-29.0%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-26.7%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-2.3%p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-1.61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-25.6%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LOSE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-4.9%p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+6.0%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-11.9%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+17.9%p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-10.4%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WIN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+80.7%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+96.4%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-15.7%p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2026(3M)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+23.5%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+32.8%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-9.3%p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2.92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-5.2%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LOSE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기존전략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강점과 약점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7A55"/>
                </a:solidFill>
                <a:latin typeface="맑은 고딕"/>
              </a:defRPr>
            </a:pPr>
            <a:r>
              <a:t>강점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91440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하락장</a:t>
            </a:r>
            <a:r>
              <a:rPr dirty="0"/>
              <a:t> </a:t>
            </a:r>
            <a:r>
              <a:rPr dirty="0" err="1"/>
              <a:t>방어력이</a:t>
            </a:r>
            <a:r>
              <a:rPr dirty="0"/>
              <a:t> </a:t>
            </a:r>
            <a:r>
              <a:rPr dirty="0" err="1"/>
              <a:t>뛰어남</a:t>
            </a:r>
            <a:br>
              <a:rPr dirty="0"/>
            </a:br>
            <a:r>
              <a:rPr dirty="0"/>
              <a:t>KOSPI </a:t>
            </a:r>
            <a:r>
              <a:rPr dirty="0" err="1"/>
              <a:t>하락</a:t>
            </a:r>
            <a:r>
              <a:rPr dirty="0"/>
              <a:t> </a:t>
            </a:r>
            <a:r>
              <a:rPr dirty="0" err="1"/>
              <a:t>월</a:t>
            </a:r>
            <a:r>
              <a:rPr dirty="0"/>
              <a:t>(27개월)</a:t>
            </a:r>
            <a:r>
              <a:rPr dirty="0" err="1"/>
              <a:t>에서</a:t>
            </a:r>
            <a:r>
              <a:rPr dirty="0"/>
              <a:t> 67%의 </a:t>
            </a:r>
            <a:r>
              <a:rPr dirty="0" err="1"/>
              <a:t>확률로</a:t>
            </a:r>
            <a:r>
              <a:rPr dirty="0"/>
              <a:t> </a:t>
            </a:r>
            <a:r>
              <a:rPr dirty="0" err="1"/>
              <a:t>KOSPI보다</a:t>
            </a:r>
            <a:r>
              <a:rPr dirty="0"/>
              <a:t> </a:t>
            </a:r>
            <a:r>
              <a:rPr dirty="0" err="1"/>
              <a:t>선방</a:t>
            </a:r>
            <a:br>
              <a:rPr dirty="0"/>
            </a:br>
            <a:r>
              <a:rPr dirty="0" err="1"/>
              <a:t>하락장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: </a:t>
            </a:r>
            <a:r>
              <a:rPr dirty="0" err="1"/>
              <a:t>전략</a:t>
            </a:r>
            <a:r>
              <a:rPr dirty="0"/>
              <a:t> -2.57% vs KOSPI -3.97% → +1.40%p </a:t>
            </a:r>
            <a:r>
              <a:rPr dirty="0" err="1"/>
              <a:t>초과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5303520" cy="82296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롤링</a:t>
            </a:r>
            <a:r>
              <a:rPr dirty="0"/>
              <a:t> 12개월 </a:t>
            </a:r>
            <a:r>
              <a:rPr dirty="0" err="1"/>
              <a:t>기준</a:t>
            </a:r>
            <a:r>
              <a:rPr dirty="0"/>
              <a:t> 56% </a:t>
            </a:r>
            <a:r>
              <a:rPr dirty="0" err="1"/>
              <a:t>확률로</a:t>
            </a:r>
            <a:r>
              <a:rPr dirty="0"/>
              <a:t> </a:t>
            </a:r>
            <a:r>
              <a:rPr dirty="0" err="1"/>
              <a:t>KOSPI를</a:t>
            </a:r>
            <a:r>
              <a:rPr dirty="0"/>
              <a:t> </a:t>
            </a:r>
            <a:r>
              <a:rPr dirty="0" err="1"/>
              <a:t>초과</a:t>
            </a:r>
            <a:br>
              <a:rPr dirty="0"/>
            </a:b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초과수익</a:t>
            </a:r>
            <a:r>
              <a:rPr dirty="0"/>
              <a:t> +0.8%p, </a:t>
            </a:r>
            <a:r>
              <a:rPr dirty="0" err="1"/>
              <a:t>최대</a:t>
            </a:r>
            <a:r>
              <a:rPr dirty="0"/>
              <a:t> +20.6%p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5303520" cy="82296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2021, 2024년 KOSPI 대비 대폭 초과 달성</a:t>
            </a:r>
            <a:br/>
            <a:r>
              <a:t>2021: KOSPI -1.1% → 전략 +19.5% (+20.6%p)</a:t>
            </a:r>
            <a:br/>
            <a:r>
              <a:t>2024: KOSPI -11.9% → 전략 +6.0% (+17.9%p)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1E1E"/>
                </a:solidFill>
                <a:latin typeface="맑은 고딕"/>
              </a:defRPr>
            </a:pPr>
            <a:r>
              <a:t>약점 / 개선 포인트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91440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상승장에서</a:t>
            </a:r>
            <a:r>
              <a:rPr dirty="0"/>
              <a:t> </a:t>
            </a:r>
            <a:r>
              <a:rPr dirty="0" err="1"/>
              <a:t>KOSPI를</a:t>
            </a:r>
            <a:r>
              <a:rPr dirty="0"/>
              <a:t> </a:t>
            </a:r>
            <a:r>
              <a:rPr dirty="0" err="1"/>
              <a:t>따라가지</a:t>
            </a:r>
            <a:r>
              <a:rPr dirty="0"/>
              <a:t> </a:t>
            </a:r>
            <a:r>
              <a:rPr dirty="0" err="1"/>
              <a:t>못함</a:t>
            </a:r>
            <a:br>
              <a:rPr dirty="0"/>
            </a:br>
            <a:r>
              <a:rPr dirty="0"/>
              <a:t>KOSPI </a:t>
            </a:r>
            <a:r>
              <a:rPr dirty="0" err="1"/>
              <a:t>상승</a:t>
            </a:r>
            <a:r>
              <a:rPr dirty="0"/>
              <a:t> </a:t>
            </a:r>
            <a:r>
              <a:rPr dirty="0" err="1"/>
              <a:t>월</a:t>
            </a:r>
            <a:r>
              <a:rPr dirty="0"/>
              <a:t>(36개월) </a:t>
            </a:r>
            <a:r>
              <a:rPr dirty="0" err="1"/>
              <a:t>평균</a:t>
            </a:r>
            <a:r>
              <a:rPr dirty="0"/>
              <a:t>: </a:t>
            </a:r>
            <a:r>
              <a:rPr dirty="0" err="1"/>
              <a:t>전략</a:t>
            </a:r>
            <a:r>
              <a:rPr dirty="0"/>
              <a:t> +4.71% vs KOSPI +5.52%</a:t>
            </a:r>
            <a:br>
              <a:rPr dirty="0"/>
            </a:br>
            <a:r>
              <a:rPr dirty="0"/>
              <a:t>→ </a:t>
            </a:r>
            <a:r>
              <a:rPr dirty="0" err="1"/>
              <a:t>상승장</a:t>
            </a:r>
            <a:r>
              <a:rPr dirty="0"/>
              <a:t> </a:t>
            </a:r>
            <a:r>
              <a:rPr dirty="0" err="1"/>
              <a:t>초과수익</a:t>
            </a:r>
            <a:r>
              <a:rPr dirty="0"/>
              <a:t> -0.81%p (</a:t>
            </a:r>
            <a:r>
              <a:rPr dirty="0" err="1"/>
              <a:t>뒤처짐</a:t>
            </a:r>
            <a:r>
              <a:rPr dirty="0"/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108960"/>
            <a:ext cx="5303520" cy="82296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/>
              <a:t>2022년 </a:t>
            </a:r>
            <a:r>
              <a:rPr dirty="0" err="1"/>
              <a:t>하락장에서</a:t>
            </a:r>
            <a:r>
              <a:rPr dirty="0"/>
              <a:t> </a:t>
            </a:r>
            <a:r>
              <a:rPr dirty="0" err="1"/>
              <a:t>KOSPI보다</a:t>
            </a:r>
            <a:r>
              <a:rPr dirty="0"/>
              <a:t>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빠짐</a:t>
            </a:r>
            <a:br>
              <a:rPr dirty="0"/>
            </a:br>
            <a:r>
              <a:rPr dirty="0" err="1"/>
              <a:t>전략</a:t>
            </a:r>
            <a:r>
              <a:rPr dirty="0"/>
              <a:t> -29.0% vs KOSPI -26.7% → -2.3%p </a:t>
            </a:r>
            <a:r>
              <a:rPr dirty="0" err="1"/>
              <a:t>언더퍼폼</a:t>
            </a:r>
            <a:br>
              <a:rPr dirty="0"/>
            </a:br>
            <a:r>
              <a:rPr dirty="0" err="1"/>
              <a:t>하락장에서</a:t>
            </a:r>
            <a:r>
              <a:rPr dirty="0"/>
              <a:t> </a:t>
            </a:r>
            <a:r>
              <a:rPr dirty="0" err="1"/>
              <a:t>방어</a:t>
            </a:r>
            <a:r>
              <a:rPr dirty="0"/>
              <a:t> </a:t>
            </a:r>
            <a:r>
              <a:rPr dirty="0" err="1"/>
              <a:t>실패한</a:t>
            </a:r>
            <a:r>
              <a:rPr dirty="0"/>
              <a:t> </a:t>
            </a:r>
            <a:r>
              <a:rPr dirty="0" err="1"/>
              <a:t>해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5303520" cy="82296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/>
              <a:t>2025~2026 </a:t>
            </a:r>
            <a:r>
              <a:rPr dirty="0" err="1"/>
              <a:t>대세</a:t>
            </a:r>
            <a:r>
              <a:rPr dirty="0"/>
              <a:t> </a:t>
            </a:r>
            <a:r>
              <a:rPr dirty="0" err="1"/>
              <a:t>상승장에서</a:t>
            </a:r>
            <a:r>
              <a:rPr dirty="0"/>
              <a:t> KOSPI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열위</a:t>
            </a:r>
            <a:br>
              <a:rPr dirty="0"/>
            </a:br>
            <a:r>
              <a:rPr dirty="0"/>
              <a:t>2025: </a:t>
            </a:r>
            <a:r>
              <a:rPr dirty="0" err="1"/>
              <a:t>전략</a:t>
            </a:r>
            <a:r>
              <a:rPr dirty="0"/>
              <a:t> +80.7% vs KOSPI +96.</a:t>
            </a:r>
            <a:endParaRPr lang="en-US" dirty="0"/>
          </a:p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/>
              <a:t>4% → -15.7%p</a:t>
            </a:r>
            <a:br>
              <a:rPr dirty="0"/>
            </a:br>
            <a:r>
              <a:rPr dirty="0"/>
              <a:t>2026: </a:t>
            </a:r>
            <a:r>
              <a:rPr dirty="0" err="1"/>
              <a:t>전략</a:t>
            </a:r>
            <a:r>
              <a:rPr dirty="0"/>
              <a:t> +23.5% vs KOSPI +32.8% → -9.3%p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종합</a:t>
            </a:r>
            <a:r>
              <a:rPr dirty="0"/>
              <a:t> </a:t>
            </a:r>
            <a:r>
              <a:rPr dirty="0" err="1"/>
              <a:t>시사점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기존전략은</a:t>
            </a:r>
            <a:r>
              <a:rPr dirty="0"/>
              <a:t> '</a:t>
            </a:r>
            <a:r>
              <a:rPr dirty="0" err="1"/>
              <a:t>하락장</a:t>
            </a:r>
            <a:r>
              <a:rPr dirty="0"/>
              <a:t> </a:t>
            </a:r>
            <a:r>
              <a:rPr dirty="0" err="1"/>
              <a:t>방어</a:t>
            </a:r>
            <a:r>
              <a:rPr dirty="0"/>
              <a:t> + </a:t>
            </a:r>
            <a:r>
              <a:rPr dirty="0" err="1"/>
              <a:t>안정적</a:t>
            </a:r>
            <a:r>
              <a:rPr dirty="0"/>
              <a:t> </a:t>
            </a:r>
            <a:r>
              <a:rPr dirty="0" err="1"/>
              <a:t>수익'에</a:t>
            </a:r>
            <a:r>
              <a:rPr dirty="0"/>
              <a:t> </a:t>
            </a:r>
            <a:r>
              <a:rPr dirty="0" err="1"/>
              <a:t>강점</a:t>
            </a:r>
            <a:r>
              <a:rPr dirty="0"/>
              <a:t> → </a:t>
            </a:r>
            <a:r>
              <a:rPr dirty="0" err="1"/>
              <a:t>밸류</a:t>
            </a:r>
            <a:r>
              <a:rPr dirty="0"/>
              <a:t> </a:t>
            </a:r>
            <a:r>
              <a:rPr dirty="0" err="1"/>
              <a:t>팩터의</a:t>
            </a:r>
            <a:r>
              <a:rPr dirty="0"/>
              <a:t> </a:t>
            </a:r>
            <a:r>
              <a:rPr dirty="0" err="1"/>
              <a:t>본질적</a:t>
            </a:r>
            <a:r>
              <a:rPr dirty="0"/>
              <a:t> </a:t>
            </a:r>
            <a:r>
              <a:rPr dirty="0" err="1"/>
              <a:t>특성</a:t>
            </a:r>
            <a:br>
              <a:rPr dirty="0"/>
            </a:br>
            <a:r>
              <a:rPr dirty="0"/>
              <a:t>• </a:t>
            </a:r>
            <a:r>
              <a:rPr dirty="0" err="1"/>
              <a:t>대세</a:t>
            </a:r>
            <a:r>
              <a:rPr dirty="0"/>
              <a:t> </a:t>
            </a:r>
            <a:r>
              <a:rPr dirty="0" err="1"/>
              <a:t>상승장에서는</a:t>
            </a:r>
            <a:r>
              <a:rPr dirty="0"/>
              <a:t> </a:t>
            </a:r>
            <a:r>
              <a:rPr dirty="0" err="1"/>
              <a:t>KOSPI를</a:t>
            </a:r>
            <a:r>
              <a:rPr dirty="0"/>
              <a:t> </a:t>
            </a:r>
            <a:r>
              <a:rPr dirty="0" err="1"/>
              <a:t>따라가지</a:t>
            </a:r>
            <a:r>
              <a:rPr dirty="0"/>
              <a:t> </a:t>
            </a:r>
            <a:r>
              <a:rPr dirty="0" err="1"/>
              <a:t>못함</a:t>
            </a:r>
            <a:r>
              <a:rPr dirty="0"/>
              <a:t> → </a:t>
            </a:r>
            <a:r>
              <a:rPr dirty="0" err="1"/>
              <a:t>모멘텀</a:t>
            </a:r>
            <a:r>
              <a:rPr dirty="0"/>
              <a:t>/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팩터</a:t>
            </a:r>
            <a:r>
              <a:rPr dirty="0"/>
              <a:t> </a:t>
            </a:r>
            <a:r>
              <a:rPr dirty="0" err="1"/>
              <a:t>비중</a:t>
            </a:r>
            <a:r>
              <a:rPr dirty="0"/>
              <a:t> </a:t>
            </a:r>
            <a:r>
              <a:rPr dirty="0" err="1"/>
              <a:t>조절</a:t>
            </a:r>
            <a:r>
              <a:rPr dirty="0"/>
              <a:t> </a:t>
            </a:r>
            <a:r>
              <a:rPr dirty="0" err="1"/>
              <a:t>필요</a:t>
            </a:r>
            <a:br>
              <a:rPr dirty="0"/>
            </a:br>
            <a:r>
              <a:rPr dirty="0"/>
              <a:t>• 2022년처럼 </a:t>
            </a:r>
            <a:r>
              <a:rPr dirty="0" err="1"/>
              <a:t>전방위</a:t>
            </a:r>
            <a:r>
              <a:rPr dirty="0"/>
              <a:t> </a:t>
            </a:r>
            <a:r>
              <a:rPr dirty="0" err="1"/>
              <a:t>하락장에서는</a:t>
            </a:r>
            <a:r>
              <a:rPr dirty="0"/>
              <a:t> </a:t>
            </a:r>
            <a:r>
              <a:rPr dirty="0" err="1"/>
              <a:t>밸류도</a:t>
            </a:r>
            <a:r>
              <a:rPr dirty="0"/>
              <a:t> </a:t>
            </a:r>
            <a:r>
              <a:rPr dirty="0" err="1"/>
              <a:t>방어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 → Trading </a:t>
            </a:r>
            <a:r>
              <a:rPr dirty="0" err="1"/>
              <a:t>Agent의</a:t>
            </a:r>
            <a:r>
              <a:rPr dirty="0"/>
              <a:t> </a:t>
            </a:r>
            <a:r>
              <a:rPr dirty="0" err="1"/>
              <a:t>레짐</a:t>
            </a:r>
            <a:r>
              <a:rPr dirty="0"/>
              <a:t> </a:t>
            </a:r>
            <a:r>
              <a:rPr dirty="0" err="1"/>
              <a:t>판단이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단일 팩터 롱숏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각 팩터가 단독으로 종목 선별력이 있는가 (5분위 Q1 롱 - Q5 숏)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98755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팩터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연환산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누적 L/S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t-stat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승률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EPS 모멘텀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+73.7%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강력 (준유의)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Trailing 매출 성장률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+73.0%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1.79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0.079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강력 (준유의)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매출 성장률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+80.1%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강력 (준유의)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EBIT Growth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+8.2%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+44.6%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0.176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가격 모멘텀 (3M)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+48.3%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EV/IC~ROIC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+8.9%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+41.3%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0.332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PBR~ROE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PER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0.609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F.EV/EBIT~EBITG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F.PER~EPSG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-15.4%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PBR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-24.0%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Trailing EV/EBITDA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-18.5%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0.834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5760720"/>
            <a:ext cx="11612880" cy="8229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>
                <a:solidFill>
                  <a:srgbClr val="1F1F1F"/>
                </a:solidFill>
                <a:latin typeface="맑은 고딕"/>
              </a:defRPr>
            </a:pPr>
            <a:r>
              <a:t>핵심: EPS 모멘텀·매출 성장률이 가장 강력 (Sharpe 0.7~0.8) | 회귀 4종 중 EV/IC~ROIC만 양호, F.PER~EPSG는 역효과 | PBR·EV/EBITDA도 단독으로는 역효과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팩터 비중 vs 실제 기여도 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현재 비중 배분이 최적인가?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팩터 그룹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팩터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비중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롱숏 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차별화 (15%)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EPS 모멘텀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강력 — 비중 대비 기여도 높음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성장 (20%)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매출 성장률 (T+F)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강력 — 비중 대비 기여도 높음 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회귀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EV/IC~ROIC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양호 — 4종 중 유일하게 양호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회귀 (30%)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PBR~ROE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회귀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F.PER~EPSG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 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회귀 (30%)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ATT: F.EV/EBIT~EBITG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밸류 (35%)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Forward 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밸류 (35%)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PBR (T+F)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 ⚠️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밸류 (35%)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EV/EBITDA (T+F)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역효과</a:t>
                      </a:r>
                      <a:r>
                        <a:rPr dirty="0"/>
                        <a:t> 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87972" y="5231130"/>
            <a:ext cx="11612880" cy="1371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>
                <a:solidFill>
                  <a:srgbClr val="1F1F1F"/>
                </a:solidFill>
                <a:latin typeface="맑은 고딕"/>
              </a:defRPr>
            </a:pPr>
            <a:r>
              <a:t>핵심 질문: 롱숏에서 강력한 팩터 비중을 올리면 전략이 좋아질까?</a:t>
            </a:r>
            <a:br/>
            <a:br/>
            <a:r>
              <a:t>• EPS 모멘텀(Sharpe 0.79)은 비중 15%에 불과 → 비중 확대?</a:t>
            </a:r>
            <a:br/>
            <a:r>
              <a:t>• PBR/EV/EBITDA는 단독 역효과인데 밸류 35% 중 20%를 차지 → 제거?</a:t>
            </a:r>
            <a:br/>
            <a:r>
              <a:t>• 회귀 30% 중 양호한 건 EV/IC~ROIC(5%)뿐 → 약한 회귀 축소?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비중 조정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롱숏 결과를 근거로 비중을 바꿔보면?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641415"/>
              </p:ext>
            </p:extLst>
          </p:nvPr>
        </p:nvGraphicFramePr>
        <p:xfrm>
          <a:off x="457200" y="164592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내용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누적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A0 (현재)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밸류35+회귀30+성장20+차별화15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+140.1%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 제거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PBR·EV/EBITDA·F.PER~EPSG </a:t>
                      </a:r>
                      <a:r>
                        <a:rPr dirty="0" err="1"/>
                        <a:t>제거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비례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재배분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+121.5%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+16.4%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0.74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-39.3%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모멘텀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성장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강화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EPS모멘텀</a:t>
                      </a:r>
                      <a:r>
                        <a:rPr dirty="0"/>
                        <a:t> 25%, </a:t>
                      </a:r>
                      <a:r>
                        <a:rPr dirty="0" err="1"/>
                        <a:t>매출성장</a:t>
                      </a:r>
                      <a:r>
                        <a:rPr dirty="0"/>
                        <a:t> 25%로 </a:t>
                      </a:r>
                      <a:r>
                        <a:rPr dirty="0" err="1"/>
                        <a:t>확대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+101.8%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-39.6%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최적 제안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역효과+약한회귀 제거 + 모멘텀/성장 확대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+78.0%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+11.6%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-48.1%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KOSPI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벤치마크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+107.3%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5303520" cy="182880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핵심 발견: 역효과 팩터를 빼면 오히려 악화</a:t>
            </a:r>
            <a:br/>
            <a:br/>
            <a:r>
              <a:t>• 역효과 제거 시 Sharpe 0.87→0.74 하락</a:t>
            </a:r>
            <a:br/>
            <a:r>
              <a:t>  (위험 대비 수익 효율이 실질적으로 저하)</a:t>
            </a:r>
            <a:br/>
            <a:r>
              <a:t>• 단일 팩터 롱숏의 역효과 ≠ 멀티팩터에서 불필요</a:t>
            </a:r>
            <a:br/>
            <a:r>
              <a:t>• 14팩터 합산 시 종목 간 변별력을 높이는</a:t>
            </a:r>
            <a:br/>
            <a:r>
              <a:t>  보조 역할 → 제거하면 순위 정밀도 하락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30352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결론: 현재 14팩터 조합이 최적</a:t>
            </a:r>
            <a:br/>
            <a:br/>
            <a:r>
              <a:t>• 비중 조정으로는 개선 불가 → 구조 자체가 최적</a:t>
            </a:r>
            <a:br/>
            <a:r>
              <a:t>• 개선 방향은 팩터의 '질적 보완'에 있음</a:t>
            </a:r>
            <a:br/>
            <a:r>
              <a:t>• 특히 회귀 팩터(30%)는 비중 대비 단독 성과가</a:t>
            </a:r>
            <a:br/>
            <a:r>
              <a:t>  약함 → Trading Agent로 질적 보완 시 효과 극대화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KOSPI 대비 언더퍼폼 원인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63개월 중 언더퍼폼 31개월(49%) — 최악 5개월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최악 5개월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9509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KOSPI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초과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Top 섹터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Top3 섹터 비중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-7.7%p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금융</a:t>
                      </a:r>
                      <a:r>
                        <a:rPr dirty="0"/>
                        <a:t> 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+13.3%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+18.5%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-5.2%p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전기·전자</a:t>
                      </a:r>
                      <a:r>
                        <a:rPr dirty="0"/>
                        <a:t> 28%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55.4%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2025-07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-6.0%p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금융</a:t>
                      </a:r>
                      <a:r>
                        <a:rPr dirty="0"/>
                        <a:t> 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2024-03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+3.6%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-5.7%p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운송·창고</a:t>
                      </a:r>
                      <a:r>
                        <a:rPr dirty="0"/>
                        <a:t> 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65.2%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금융</a:t>
                      </a:r>
                      <a:r>
                        <a:rPr dirty="0"/>
                        <a:t> 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54.3%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E1E"/>
                </a:solidFill>
                <a:latin typeface="맑은 고딕"/>
              </a:defRPr>
            </a:pPr>
            <a:r>
              <a:t>반복 손실 종목 (밸류 트랩)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97680"/>
          <a:ext cx="9418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손실 기여 등장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섹터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기아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운송장비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저PER</a:t>
                      </a:r>
                      <a:r>
                        <a:rPr dirty="0"/>
                        <a:t> (5~7배) — </a:t>
                      </a:r>
                      <a:r>
                        <a:rPr dirty="0" err="1"/>
                        <a:t>자동차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업황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둔화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반복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하락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HMM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운송·창고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저PBR (0.3~0.5배) — 해운 사이클 하락기 밸류 트랩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현대글로비스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운송·창고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저PER — 물류 업황과 동반 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한국전력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전기·가스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저PBR — 정책 리스크, 만년 저평가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SK스퀘어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금융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저PER</a:t>
                      </a:r>
                      <a:r>
                        <a:rPr dirty="0"/>
                        <a:t> — </a:t>
                      </a:r>
                      <a:r>
                        <a:rPr dirty="0" err="1"/>
                        <a:t>SK하이닉스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연동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변동성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언더퍼폼 원인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두 가지 핵심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1E1E"/>
                </a:solidFill>
                <a:latin typeface="맑은 고딕"/>
              </a:defRPr>
            </a:pPr>
            <a:r>
              <a:t>① 섹터 쏠림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47120" cy="146304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>
                <a:solidFill>
                  <a:srgbClr val="1F1F1F"/>
                </a:solidFill>
                <a:latin typeface="맑은 고딕"/>
              </a:defRPr>
            </a:pPr>
            <a:r>
              <a:t>'싼 주식'을 고르다 보니 비슷한 업종이 몰린다</a:t>
            </a:r>
            <a:br/>
            <a:br/>
            <a:r>
              <a:t>• 최악 10개월 평균: Top 3 섹터 합계 59% — 30종목이지만 실질 3~4개 업종에 집중</a:t>
            </a:r>
            <a:br/>
            <a:r>
              <a:t>• 금융(10회), 운송·창고(9회), 운송장비(8회) 반복 등장</a:t>
            </a:r>
            <a:br/>
            <a:r>
              <a:t>• 이 업종이 동시에 빠지면 포트폴리오 전체가 끌려감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1E1E"/>
                </a:solidFill>
                <a:latin typeface="맑은 고딕"/>
              </a:defRPr>
            </a:pPr>
            <a:r>
              <a:t>② 밸류 트랩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146304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팩터</a:t>
            </a:r>
            <a:r>
              <a:rPr dirty="0"/>
              <a:t> </a:t>
            </a:r>
            <a:r>
              <a:rPr dirty="0" err="1"/>
              <a:t>점수가</a:t>
            </a:r>
            <a:r>
              <a:rPr dirty="0"/>
              <a:t> </a:t>
            </a:r>
            <a:r>
              <a:rPr dirty="0" err="1"/>
              <a:t>높아서</a:t>
            </a:r>
            <a:r>
              <a:rPr dirty="0"/>
              <a:t>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뽑히지만</a:t>
            </a:r>
            <a:r>
              <a:rPr dirty="0"/>
              <a:t>, </a:t>
            </a:r>
            <a:r>
              <a:rPr dirty="0" err="1"/>
              <a:t>주가는</a:t>
            </a:r>
            <a:r>
              <a:rPr dirty="0"/>
              <a:t>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빠지는</a:t>
            </a:r>
            <a:r>
              <a:rPr dirty="0"/>
              <a:t> </a:t>
            </a:r>
            <a:r>
              <a:rPr dirty="0" err="1"/>
              <a:t>종목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기아</a:t>
            </a:r>
            <a:r>
              <a:rPr dirty="0"/>
              <a:t>(4회), HMM(3회), </a:t>
            </a:r>
            <a:r>
              <a:rPr dirty="0" err="1"/>
              <a:t>현대글로비스</a:t>
            </a:r>
            <a:r>
              <a:rPr dirty="0"/>
              <a:t>(3회), </a:t>
            </a:r>
            <a:r>
              <a:rPr dirty="0" err="1"/>
              <a:t>한국전력</a:t>
            </a:r>
            <a:r>
              <a:rPr dirty="0"/>
              <a:t>(3회) — </a:t>
            </a:r>
            <a:r>
              <a:rPr dirty="0" err="1"/>
              <a:t>손실</a:t>
            </a:r>
            <a:r>
              <a:rPr dirty="0"/>
              <a:t> </a:t>
            </a:r>
            <a:r>
              <a:rPr dirty="0" err="1"/>
              <a:t>기여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단골</a:t>
            </a:r>
            <a:br>
              <a:rPr dirty="0"/>
            </a:br>
            <a:r>
              <a:rPr dirty="0"/>
              <a:t>• </a:t>
            </a:r>
            <a:r>
              <a:rPr dirty="0" err="1"/>
              <a:t>저PER·저PBR이라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'</a:t>
            </a:r>
            <a:r>
              <a:rPr dirty="0" err="1"/>
              <a:t>저평가'로</a:t>
            </a:r>
            <a:r>
              <a:rPr dirty="0"/>
              <a:t> </a:t>
            </a:r>
            <a:r>
              <a:rPr dirty="0" err="1"/>
              <a:t>보지만</a:t>
            </a:r>
            <a:r>
              <a:rPr dirty="0"/>
              <a:t>, </a:t>
            </a:r>
            <a:r>
              <a:rPr dirty="0" err="1"/>
              <a:t>시장은</a:t>
            </a:r>
            <a:r>
              <a:rPr dirty="0"/>
              <a:t> '</a:t>
            </a:r>
            <a:r>
              <a:rPr dirty="0" err="1"/>
              <a:t>이유가</a:t>
            </a:r>
            <a:r>
              <a:rPr dirty="0"/>
              <a:t> </a:t>
            </a:r>
            <a:r>
              <a:rPr dirty="0" err="1"/>
              <a:t>있어서</a:t>
            </a:r>
            <a:r>
              <a:rPr dirty="0"/>
              <a:t> </a:t>
            </a:r>
            <a:r>
              <a:rPr dirty="0" err="1"/>
              <a:t>싸다'고</a:t>
            </a:r>
            <a:r>
              <a:rPr dirty="0"/>
              <a:t> </a:t>
            </a:r>
            <a:r>
              <a:rPr dirty="0" err="1"/>
              <a:t>판단</a:t>
            </a:r>
            <a:br>
              <a:rPr dirty="0"/>
            </a:br>
            <a:r>
              <a:rPr dirty="0"/>
              <a:t>• </a:t>
            </a:r>
            <a:r>
              <a:rPr dirty="0" err="1"/>
              <a:t>단</a:t>
            </a:r>
            <a:r>
              <a:rPr dirty="0"/>
              <a:t>, </a:t>
            </a:r>
            <a:r>
              <a:rPr dirty="0" err="1"/>
              <a:t>장기적으로는</a:t>
            </a:r>
            <a:r>
              <a:rPr dirty="0"/>
              <a:t> </a:t>
            </a:r>
            <a:r>
              <a:rPr dirty="0" err="1"/>
              <a:t>수익을</a:t>
            </a:r>
            <a:r>
              <a:rPr dirty="0"/>
              <a:t> </a:t>
            </a:r>
            <a:r>
              <a:rPr dirty="0" err="1"/>
              <a:t>내는</a:t>
            </a:r>
            <a:r>
              <a:rPr dirty="0"/>
              <a:t> </a:t>
            </a:r>
            <a:r>
              <a:rPr dirty="0" err="1"/>
              <a:t>종목이라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오히려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 </a:t>
            </a:r>
            <a:r>
              <a:rPr dirty="0" err="1"/>
              <a:t>악화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>
                <a:solidFill>
                  <a:srgbClr val="1F1F1F"/>
                </a:solidFill>
                <a:latin typeface="맑은 고딕"/>
              </a:defRPr>
            </a:pPr>
            <a:r>
              <a:t>한줄 요약: 모델이 '싸다'에 과집중 → 같은 업종·같은 종목 반복 → 빠질 때 같이 빠진다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개선 실험 ①: 섹터 종목 수 상한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업종 쏠림을 제한하면?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570231"/>
              </p:ext>
            </p:extLst>
          </p:nvPr>
        </p:nvGraphicFramePr>
        <p:xfrm>
          <a:off x="914400" y="1645920"/>
          <a:ext cx="9052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수익률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기존 전략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섹터 제한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+14</a:t>
                      </a:r>
                      <a:r>
                        <a:rPr lang="en-US" altLang="ko-KR" dirty="0"/>
                        <a:t>0</a:t>
                      </a:r>
                      <a:r>
                        <a:rPr dirty="0"/>
                        <a:t>.</a:t>
                      </a:r>
                      <a:r>
                        <a:rPr lang="en-US" altLang="ko-KR" dirty="0"/>
                        <a:t>1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섹터 상한 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한 업종 최대 7~8종목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+158.2%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-34.2%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섹터 상한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한 업종 최대 6종목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+150.4%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섹터 상한 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한 업종 최대 4~5종목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+113.5%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+15.5%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-37.7%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4800"/>
            <a:ext cx="5303520" cy="182880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결과: Sharpe 소폭 개선, MDD 변화 없음</a:t>
            </a:r>
            <a:br/>
            <a:br/>
            <a:r>
              <a:t>• 섹터 상한 25%: Sharpe 0.90→0.93</a:t>
            </a:r>
            <a:br/>
            <a:r>
              <a:t>  수익률도 149%→158%로 향상</a:t>
            </a:r>
            <a:br/>
            <a:r>
              <a:t>• 그러나 MDD는 -34.3%→-34.2%로 거의 동일</a:t>
            </a:r>
            <a:br/>
            <a:r>
              <a:t>• 15%로 너무 조이면 오히려 성과 악화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0352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시사점</a:t>
            </a:r>
            <a:br/>
            <a:br/>
            <a:r>
              <a:t>• 섹터 분산은 수익 효율 개선에는 유효</a:t>
            </a:r>
            <a:br/>
            <a:r>
              <a:t>• 하지만 MDD 문제는 해결되지 않음</a:t>
            </a:r>
            <a:br/>
            <a:r>
              <a:t>• 업종 쏠림은 원인의 일부일 뿐</a:t>
            </a:r>
            <a:br/>
            <a:r>
              <a:t>  → 밸류 트랩 문제가 남아있음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①: </a:t>
            </a:r>
            <a:r>
              <a:rPr dirty="0" err="1"/>
              <a:t>밸류</a:t>
            </a:r>
            <a:r>
              <a:rPr dirty="0"/>
              <a:t> </a:t>
            </a:r>
            <a:r>
              <a:rPr dirty="0" err="1"/>
              <a:t>트랩</a:t>
            </a:r>
            <a:r>
              <a:rPr dirty="0"/>
              <a:t> </a:t>
            </a:r>
            <a:r>
              <a:rPr dirty="0" err="1"/>
              <a:t>필터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3개월 연속 하락 종목을 제외하면?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873836"/>
              </p:ext>
            </p:extLst>
          </p:nvPr>
        </p:nvGraphicFramePr>
        <p:xfrm>
          <a:off x="914400" y="1645920"/>
          <a:ext cx="96926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수익률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기존 전략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현재 전략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+14</a:t>
                      </a:r>
                      <a:r>
                        <a:rPr lang="en-US" altLang="ko-KR" dirty="0"/>
                        <a:t>0</a:t>
                      </a:r>
                      <a:r>
                        <a:rPr dirty="0"/>
                        <a:t>.</a:t>
                      </a:r>
                      <a:r>
                        <a:rPr lang="en-US" altLang="ko-KR" dirty="0"/>
                        <a:t>1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밸류트랩 필터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3개월 연속 하락 종목 제외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+101.4%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+14.3%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-37.7%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200400"/>
            <a:ext cx="5303520" cy="182880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결과: 오히려 악화</a:t>
            </a:r>
            <a:br/>
            <a:br/>
            <a:r>
              <a:t>• 수익률 149% → 101% (수익 1/3 날아감)</a:t>
            </a:r>
            <a:br/>
            <a:r>
              <a:t>• Sharpe 0.90 → 0.71, MDD도 악화</a:t>
            </a:r>
            <a:br/>
            <a:r>
              <a:t>• 월평균 3.8종목이 필터에 걸림</a:t>
            </a:r>
            <a:br/>
            <a:r>
              <a:t>• 기아·HMM 등은 일시 하락 후 반등하는 종목</a:t>
            </a:r>
            <a:br/>
            <a:r>
              <a:t>  → 제거하면 반등 구간도 놓침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30352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시사점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밸류</a:t>
            </a:r>
            <a:r>
              <a:rPr dirty="0"/>
              <a:t> </a:t>
            </a:r>
            <a:r>
              <a:rPr dirty="0" err="1"/>
              <a:t>트랩은</a:t>
            </a:r>
            <a:r>
              <a:rPr dirty="0"/>
              <a:t> </a:t>
            </a:r>
            <a:r>
              <a:rPr dirty="0" err="1"/>
              <a:t>밸류</a:t>
            </a:r>
            <a:r>
              <a:rPr dirty="0"/>
              <a:t> </a:t>
            </a:r>
            <a:r>
              <a:rPr dirty="0" err="1"/>
              <a:t>전략의</a:t>
            </a:r>
            <a:r>
              <a:rPr dirty="0"/>
              <a:t> </a:t>
            </a:r>
            <a:r>
              <a:rPr dirty="0" err="1"/>
              <a:t>본질적</a:t>
            </a:r>
            <a:r>
              <a:rPr dirty="0"/>
              <a:t> </a:t>
            </a:r>
            <a:r>
              <a:rPr dirty="0" err="1"/>
              <a:t>리스크</a:t>
            </a:r>
            <a:br>
              <a:rPr dirty="0"/>
            </a:br>
            <a:r>
              <a:rPr dirty="0"/>
              <a:t>• </a:t>
            </a:r>
            <a:r>
              <a:rPr dirty="0" err="1"/>
              <a:t>종목을</a:t>
            </a:r>
            <a:r>
              <a:rPr dirty="0"/>
              <a:t> </a:t>
            </a:r>
            <a:r>
              <a:rPr dirty="0" err="1"/>
              <a:t>빼는</a:t>
            </a:r>
            <a:r>
              <a:rPr dirty="0"/>
              <a:t> </a:t>
            </a:r>
            <a:r>
              <a:rPr dirty="0" err="1"/>
              <a:t>건</a:t>
            </a:r>
            <a:r>
              <a:rPr dirty="0"/>
              <a:t> </a:t>
            </a:r>
            <a:r>
              <a:rPr dirty="0" err="1"/>
              <a:t>답이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 (</a:t>
            </a:r>
            <a:r>
              <a:rPr dirty="0" err="1"/>
              <a:t>반등도</a:t>
            </a:r>
            <a:r>
              <a:rPr dirty="0"/>
              <a:t> </a:t>
            </a:r>
            <a:r>
              <a:rPr dirty="0" err="1"/>
              <a:t>놓침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핵심은</a:t>
            </a:r>
            <a:r>
              <a:rPr dirty="0"/>
              <a:t> '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종목을</a:t>
            </a:r>
            <a:r>
              <a:rPr dirty="0"/>
              <a:t> </a:t>
            </a:r>
            <a:r>
              <a:rPr dirty="0" err="1"/>
              <a:t>빼느냐'가</a:t>
            </a:r>
            <a:r>
              <a:rPr dirty="0"/>
              <a:t> </a:t>
            </a:r>
            <a:r>
              <a:rPr dirty="0" err="1"/>
              <a:t>아니라</a:t>
            </a:r>
            <a:br>
              <a:rPr dirty="0"/>
            </a:br>
            <a:r>
              <a:rPr dirty="0"/>
              <a:t>  '</a:t>
            </a:r>
            <a:r>
              <a:rPr dirty="0" err="1"/>
              <a:t>언제</a:t>
            </a:r>
            <a:r>
              <a:rPr dirty="0"/>
              <a:t> </a:t>
            </a:r>
            <a:r>
              <a:rPr dirty="0" err="1"/>
              <a:t>포지션을</a:t>
            </a:r>
            <a:r>
              <a:rPr dirty="0"/>
              <a:t> </a:t>
            </a:r>
            <a:r>
              <a:rPr dirty="0" err="1"/>
              <a:t>줄이느냐</a:t>
            </a:r>
            <a:r>
              <a:rPr dirty="0"/>
              <a:t>' →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>
                <a:solidFill>
                  <a:srgbClr val="1F1F1F"/>
                </a:solidFill>
                <a:latin typeface="맑은 고딕"/>
              </a:defRPr>
            </a:pPr>
            <a:r>
              <a:t>밸류 트랩의 해결책은 '종목 제거'가 아니라 '시점 관리'</a:t>
            </a:r>
            <a:br/>
            <a:r>
              <a:t>→ 밸류 트랩 종목이 빠지는 시기(하락장)에 포지션 자체를 줄이면 피해를 줄일 수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개선 실험 ②: 시장 레짐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KOSPI 12개월 이동평균 하회 시 현금 비중 확대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185712"/>
              </p:ext>
            </p:extLst>
          </p:nvPr>
        </p:nvGraphicFramePr>
        <p:xfrm>
          <a:off x="731520" y="1645920"/>
          <a:ext cx="8961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수익률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기존전략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현금</a:t>
                      </a:r>
                      <a:r>
                        <a:rPr dirty="0"/>
                        <a:t> 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+14</a:t>
                      </a:r>
                      <a:r>
                        <a:rPr lang="en-US" altLang="ko-KR" dirty="0"/>
                        <a:t>0</a:t>
                      </a:r>
                      <a:r>
                        <a:rPr dirty="0"/>
                        <a:t>.</a:t>
                      </a:r>
                      <a:r>
                        <a:rPr lang="en-US" altLang="ko-KR" dirty="0"/>
                        <a:t>1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하락장 현금 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+159.9%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-26.9%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하락장 현금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+166.2%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하락장 현금 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+171.8%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+21.0%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-16.3%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931920"/>
            <a:ext cx="5303520" cy="137160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결과: 모든 지표가 개선</a:t>
            </a:r>
            <a:br/>
            <a:br/>
            <a:r>
              <a:t>• MDD: -34.3% → -16.3% (현금 70%)</a:t>
            </a:r>
            <a:br/>
            <a:r>
              <a:t>• Sharpe: 0.90 → 1.12</a:t>
            </a:r>
            <a:br/>
            <a:r>
              <a:t>• 수익률도 149% → 172%로 오히려 상승</a:t>
            </a:r>
            <a:br/>
            <a:r>
              <a:t>  (하락장에서 덜 잃으니 복리 효과)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303520" cy="1371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원리</a:t>
            </a:r>
            <a:br/>
            <a:br/>
            <a:r>
              <a:t>• KOSPI가 12개월 이동평균 하회 = 하락장 신호</a:t>
            </a:r>
            <a:br/>
            <a:r>
              <a:t>• 63개월 중 26개월(41%)이 하락장 (주로 2022년)</a:t>
            </a:r>
            <a:br/>
            <a:r>
              <a:t>• 이 기간에 현금 비중을 높여 손실을 줄임</a:t>
            </a:r>
            <a:br/>
            <a:r>
              <a:t>• 단순한 지표 하나로 MDD 절반 축소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11247120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밸류 트랩 문제도 해결: 종목을 빼는 게 아니라 '빠지는 시기'에 포지션을 줄여 피해 축소</a:t>
            </a:r>
            <a:br/>
            <a:r>
              <a:t>주의: 2022년 하락장에 집중된 효과 — 다양한 시장 환경에서의 추가 검증 필요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개선 조합: 섹터 캡 + 레짐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두 가지를 합치면?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990898"/>
              </p:ext>
            </p:extLst>
          </p:nvPr>
        </p:nvGraphicFramePr>
        <p:xfrm>
          <a:off x="457200" y="1645920"/>
          <a:ext cx="9418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수익률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기존 전략 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현재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+14</a:t>
                      </a:r>
                      <a:r>
                        <a:rPr lang="en-US" altLang="ko-KR" dirty="0"/>
                        <a:t>0</a:t>
                      </a:r>
                      <a:r>
                        <a:rPr dirty="0"/>
                        <a:t>.</a:t>
                      </a:r>
                      <a:r>
                        <a:rPr lang="en-US" altLang="ko-KR" dirty="0"/>
                        <a:t>1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섹터 캡 25%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+158.2%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+19.8%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-34.2%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레짐 필터 50%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+166.2%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섹터25% + 레짐50%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+173.5%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+21.1%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-21.7%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레짐 필터 70%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-16.3%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섹터25% + 레짐70%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+178.2%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+21.5%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-16.3%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5303520" cy="137160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조합 효과</a:t>
            </a:r>
            <a:br/>
            <a:br/>
            <a:r>
              <a:t>• 섹터 캡: 수익률을 +7~8%p 추가 향상</a:t>
            </a:r>
            <a:br/>
            <a:r>
              <a:t>• 레짐 필터: MDD를 절반으로 축소</a:t>
            </a:r>
            <a:br/>
            <a:r>
              <a:t>• 두 가지는 독립적으로 작동 → 합치면 효과 합산</a:t>
            </a:r>
            <a:br/>
            <a:r>
              <a:t>• 최고 조합: 섹터25% + 레짐70%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303520" cy="1371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A0 대비 개선 폭</a:t>
            </a:r>
            <a:br/>
            <a:br/>
            <a:r>
              <a:t>• 수익률: 149% → 178% (+29%p)</a:t>
            </a:r>
            <a:br/>
            <a:r>
              <a:t>• Sharpe: 0.90 → 1.14 (+27%)</a:t>
            </a:r>
            <a:br/>
            <a:r>
              <a:t>• MDD: -34.3% → -16.3% (절반 이하)</a:t>
            </a:r>
            <a:br/>
            <a:r>
              <a:t>• 단순 규칙 두 개만으로 대폭 개선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>
                <a:solidFill>
                  <a:srgbClr val="1F1F1F"/>
                </a:solidFill>
                <a:latin typeface="맑은 고딕"/>
              </a:defRPr>
            </a:pPr>
            <a:r>
              <a:t>향후: 레짐 판단 고도화 (AI Agent), 현금 비중 동적 조절, 더 긴 백테스트 기간으로 추가 검증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다음 단계: AI Trading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퀀트 모델이 못 보는 '비정형 데이터'를 AI가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E1E"/>
                </a:solidFill>
                <a:latin typeface="맑은 고딕"/>
              </a:defRPr>
            </a:pPr>
            <a:r>
              <a:t>퀀트 모델의 한계: 정형 데이터만 본다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645920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>
                <a:solidFill>
                  <a:srgbClr val="1F1F1F"/>
                </a:solidFill>
                <a:latin typeface="맑은 고딕"/>
              </a:defRPr>
            </a:pPr>
            <a:r>
              <a:t>현재 모델이 사용하는 데이터 (정형)</a:t>
            </a:r>
            <a:br/>
            <a:br/>
            <a:r>
              <a:t>  PER, PBR, ROE, 매출성장률, EPS 컨센서스...</a:t>
            </a:r>
            <a:br/>
            <a:r>
              <a:t>  → 숫자로 표현되는 재무 데이터만 활용</a:t>
            </a:r>
            <a:br/>
            <a:br/>
            <a:r>
              <a:t>현재 모델이 못 보는 데이터 (비정형)</a:t>
            </a:r>
            <a:br/>
            <a:br/>
            <a:r>
              <a:t>  뉴스: '기아 미국 관세 리스크 확대'</a:t>
            </a:r>
            <a:br/>
            <a:r>
              <a:t>  공시: '한국전력 전기요금 동결 결정'</a:t>
            </a:r>
            <a:br/>
            <a:r>
              <a:t>  시장심리: '해운주 투매 심리 확산'</a:t>
            </a:r>
            <a:br/>
            <a:r>
              <a:t>  거시경제: '미국 금리 인하 기대감 후퇴'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>
                <a:solidFill>
                  <a:srgbClr val="1F1F1F"/>
                </a:solidFill>
                <a:latin typeface="맑은 고딕"/>
              </a:defRPr>
            </a:pPr>
            <a:r>
              <a:t>앞서 확인한 문제들이 바로 이 한계에서 발생</a:t>
            </a:r>
            <a:br/>
            <a:r>
              <a:t>• 밸류 트랩: 숫자는 '싸다'지만 뉴스는 '이유가 있다'</a:t>
            </a:r>
            <a:br/>
            <a:r>
              <a:t>• 레짐 전환: 12개월 이평은 후행 — 뉴스가 더 빠르다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rPr dirty="0" err="1"/>
              <a:t>TradingAgents</a:t>
            </a:r>
            <a:r>
              <a:rPr dirty="0"/>
              <a:t>: </a:t>
            </a:r>
            <a:r>
              <a:rPr dirty="0" err="1"/>
              <a:t>비정형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1005840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>
                <a:solidFill>
                  <a:srgbClr val="1F1F1F"/>
                </a:solidFill>
                <a:latin typeface="맑은 고딕"/>
              </a:defRPr>
            </a:pPr>
            <a:r>
              <a:t>애널리스트 팀 (4개 AI 에이전트가 독립 분석)</a:t>
            </a:r>
            <a:br/>
            <a:br/>
            <a:r>
              <a:t>  펀더멘탈   재무제표 기반 내재가치  |  뉴스   글로벌 뉴스·거시경제</a:t>
            </a:r>
            <a:br/>
            <a:r>
              <a:t>  센티먼트   소셜미디어·시장심리     |  기술   MACD, RSI 등 차트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880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108960"/>
            <a:ext cx="5303520" cy="640080"/>
          </a:xfrm>
          <a:prstGeom prst="roundRect">
            <a:avLst/>
          </a:prstGeom>
          <a:solidFill>
            <a:srgbClr val="FEF9E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리서처</a:t>
            </a:r>
            <a:r>
              <a:rPr dirty="0"/>
              <a:t> </a:t>
            </a:r>
            <a:r>
              <a:rPr dirty="0" err="1"/>
              <a:t>토론</a:t>
            </a:r>
            <a:r>
              <a:rPr dirty="0"/>
              <a:t> — Bullish vs Bearish </a:t>
            </a:r>
            <a:r>
              <a:rPr dirty="0" err="1"/>
              <a:t>교차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r>
              <a:rPr dirty="0" err="1"/>
              <a:t>강세</a:t>
            </a:r>
            <a:r>
              <a:rPr dirty="0"/>
              <a:t>/</a:t>
            </a:r>
            <a:r>
              <a:rPr dirty="0" err="1"/>
              <a:t>약세</a:t>
            </a:r>
            <a:r>
              <a:rPr dirty="0"/>
              <a:t> </a:t>
            </a:r>
            <a:r>
              <a:rPr dirty="0" err="1"/>
              <a:t>관점으로</a:t>
            </a:r>
            <a:r>
              <a:rPr dirty="0"/>
              <a:t> </a:t>
            </a:r>
            <a:r>
              <a:rPr dirty="0" err="1"/>
              <a:t>토론</a:t>
            </a:r>
            <a:r>
              <a:rPr dirty="0"/>
              <a:t> → </a:t>
            </a:r>
            <a:r>
              <a:rPr dirty="0" err="1"/>
              <a:t>편향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, </a:t>
            </a:r>
            <a:r>
              <a:rPr dirty="0" err="1"/>
              <a:t>균형</a:t>
            </a:r>
            <a:r>
              <a:rPr dirty="0"/>
              <a:t> </a:t>
            </a:r>
            <a:r>
              <a:rPr dirty="0" err="1"/>
              <a:t>잡힌</a:t>
            </a:r>
            <a:r>
              <a:rPr dirty="0"/>
              <a:t> </a:t>
            </a:r>
            <a:r>
              <a:rPr dirty="0" err="1"/>
              <a:t>결론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686800" y="3794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640080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>
                <a:solidFill>
                  <a:srgbClr val="1F1F1F"/>
                </a:solidFill>
                <a:latin typeface="맑은 고딕"/>
              </a:defRPr>
            </a:pPr>
            <a:r>
              <a:t>트레이더 → 리스크 관리 → 포트폴리오 매니저</a:t>
            </a:r>
            <a:br/>
            <a:r>
              <a:t>매매 제안 → 위험 평가 → 최종 승인/거절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맑은 고딕"/>
              </a:defRPr>
            </a:pPr>
            <a:r>
              <a:t>이현 퀀트 전략에 적용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356616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밸류</a:t>
            </a:r>
            <a:r>
              <a:rPr dirty="0"/>
              <a:t> </a:t>
            </a:r>
            <a:r>
              <a:rPr dirty="0" err="1"/>
              <a:t>트랩</a:t>
            </a:r>
            <a:r>
              <a:rPr dirty="0"/>
              <a:t> </a:t>
            </a:r>
            <a:r>
              <a:rPr dirty="0" err="1"/>
              <a:t>판단</a:t>
            </a:r>
            <a:br>
              <a:rPr dirty="0"/>
            </a:br>
            <a:br>
              <a:rPr dirty="0"/>
            </a:br>
            <a:r>
              <a:rPr dirty="0" err="1"/>
              <a:t>뉴스+펀더멘탈</a:t>
            </a:r>
            <a:r>
              <a:rPr dirty="0"/>
              <a:t> </a:t>
            </a:r>
            <a:r>
              <a:rPr dirty="0" err="1"/>
              <a:t>에이전트가</a:t>
            </a:r>
            <a:br>
              <a:rPr dirty="0"/>
            </a:br>
            <a:r>
              <a:rPr dirty="0"/>
              <a:t>'</a:t>
            </a:r>
            <a:r>
              <a:rPr dirty="0" err="1"/>
              <a:t>업황</a:t>
            </a:r>
            <a:r>
              <a:rPr dirty="0"/>
              <a:t> </a:t>
            </a:r>
            <a:r>
              <a:rPr dirty="0" err="1"/>
              <a:t>둔화</a:t>
            </a:r>
            <a:r>
              <a:rPr dirty="0"/>
              <a:t>' vs '</a:t>
            </a:r>
            <a:r>
              <a:rPr dirty="0" err="1"/>
              <a:t>일시</a:t>
            </a:r>
            <a:r>
              <a:rPr dirty="0"/>
              <a:t> </a:t>
            </a:r>
            <a:r>
              <a:rPr dirty="0" err="1"/>
              <a:t>조정</a:t>
            </a:r>
            <a:r>
              <a:rPr dirty="0"/>
              <a:t>' </a:t>
            </a:r>
            <a:r>
              <a:rPr dirty="0" err="1"/>
              <a:t>구분</a:t>
            </a:r>
            <a:br>
              <a:rPr dirty="0"/>
            </a:br>
            <a:r>
              <a:rPr dirty="0"/>
              <a:t>→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영역을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커버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297680" y="5212080"/>
            <a:ext cx="356616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레짐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조기</a:t>
            </a:r>
            <a:r>
              <a:rPr dirty="0"/>
              <a:t> </a:t>
            </a:r>
            <a:r>
              <a:rPr dirty="0" err="1"/>
              <a:t>감지</a:t>
            </a:r>
            <a:br>
              <a:rPr dirty="0"/>
            </a:br>
            <a:br>
              <a:rPr dirty="0"/>
            </a:br>
            <a:r>
              <a:rPr dirty="0" err="1"/>
              <a:t>센티먼트+뉴스</a:t>
            </a:r>
            <a:r>
              <a:rPr dirty="0"/>
              <a:t> </a:t>
            </a:r>
            <a:r>
              <a:rPr dirty="0" err="1"/>
              <a:t>에이전트가</a:t>
            </a:r>
            <a:br>
              <a:rPr dirty="0"/>
            </a:br>
            <a:r>
              <a:rPr dirty="0" err="1"/>
              <a:t>이동평균보다</a:t>
            </a:r>
            <a:r>
              <a:rPr dirty="0"/>
              <a:t> </a:t>
            </a:r>
            <a:r>
              <a:rPr dirty="0" err="1"/>
              <a:t>빠르게</a:t>
            </a:r>
            <a:r>
              <a:rPr dirty="0"/>
              <a:t> </a:t>
            </a:r>
            <a:r>
              <a:rPr dirty="0" err="1"/>
              <a:t>하락장</a:t>
            </a:r>
            <a:r>
              <a:rPr dirty="0"/>
              <a:t> </a:t>
            </a:r>
            <a:r>
              <a:rPr dirty="0" err="1"/>
              <a:t>감지</a:t>
            </a:r>
            <a:br>
              <a:rPr dirty="0"/>
            </a:br>
            <a:r>
              <a:rPr dirty="0"/>
              <a:t>→ </a:t>
            </a:r>
            <a:r>
              <a:rPr dirty="0" err="1"/>
              <a:t>현금</a:t>
            </a:r>
            <a:r>
              <a:rPr dirty="0"/>
              <a:t> </a:t>
            </a:r>
            <a:r>
              <a:rPr dirty="0" err="1"/>
              <a:t>비중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138160" y="5212080"/>
            <a:ext cx="356616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>
                <a:solidFill>
                  <a:srgbClr val="1F1F1F"/>
                </a:solidFill>
                <a:latin typeface="맑은 고딕"/>
              </a:defRPr>
            </a:pPr>
            <a:r>
              <a:rPr dirty="0" err="1"/>
              <a:t>섹터</a:t>
            </a:r>
            <a:r>
              <a:rPr dirty="0"/>
              <a:t> </a:t>
            </a:r>
            <a:r>
              <a:rPr dirty="0" err="1"/>
              <a:t>가중치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조절</a:t>
            </a:r>
            <a:br>
              <a:rPr dirty="0"/>
            </a:br>
            <a:br>
              <a:rPr dirty="0"/>
            </a:br>
            <a:r>
              <a:rPr dirty="0" err="1"/>
              <a:t>리서처</a:t>
            </a:r>
            <a:r>
              <a:rPr dirty="0"/>
              <a:t> </a:t>
            </a:r>
            <a:r>
              <a:rPr dirty="0" err="1"/>
              <a:t>토론으로</a:t>
            </a:r>
            <a:r>
              <a:rPr dirty="0"/>
              <a:t> </a:t>
            </a:r>
            <a:r>
              <a:rPr dirty="0" err="1"/>
              <a:t>업종</a:t>
            </a:r>
            <a:r>
              <a:rPr dirty="0"/>
              <a:t> </a:t>
            </a:r>
            <a:r>
              <a:rPr dirty="0" err="1"/>
              <a:t>전망</a:t>
            </a:r>
            <a:r>
              <a:rPr dirty="0"/>
              <a:t> </a:t>
            </a:r>
            <a:r>
              <a:rPr dirty="0" err="1"/>
              <a:t>판단</a:t>
            </a:r>
            <a:br>
              <a:rPr dirty="0"/>
            </a:br>
            <a:r>
              <a:rPr dirty="0"/>
              <a:t>'</a:t>
            </a:r>
            <a:r>
              <a:rPr dirty="0" err="1"/>
              <a:t>반도체</a:t>
            </a:r>
            <a:r>
              <a:rPr dirty="0"/>
              <a:t> </a:t>
            </a:r>
            <a:r>
              <a:rPr dirty="0" err="1"/>
              <a:t>호조</a:t>
            </a:r>
            <a:r>
              <a:rPr dirty="0"/>
              <a:t>' → </a:t>
            </a:r>
            <a:r>
              <a:rPr dirty="0" err="1"/>
              <a:t>상한</a:t>
            </a:r>
            <a:r>
              <a:rPr dirty="0"/>
              <a:t> </a:t>
            </a:r>
            <a:r>
              <a:rPr dirty="0" err="1"/>
              <a:t>완화</a:t>
            </a:r>
            <a:br>
              <a:rPr dirty="0"/>
            </a:br>
            <a:r>
              <a:rPr dirty="0"/>
              <a:t>'</a:t>
            </a:r>
            <a:r>
              <a:rPr dirty="0" err="1"/>
              <a:t>해운</a:t>
            </a:r>
            <a:r>
              <a:rPr dirty="0"/>
              <a:t> </a:t>
            </a:r>
            <a:r>
              <a:rPr dirty="0" err="1"/>
              <a:t>하락</a:t>
            </a:r>
            <a:r>
              <a:rPr dirty="0"/>
              <a:t>' → </a:t>
            </a:r>
            <a:r>
              <a:rPr dirty="0" err="1"/>
              <a:t>상한</a:t>
            </a:r>
            <a:r>
              <a:rPr dirty="0"/>
              <a:t> </a:t>
            </a:r>
            <a:r>
              <a:rPr dirty="0" err="1"/>
              <a:t>강화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추후 작업 로드맵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748324"/>
              </p:ext>
            </p:extLst>
          </p:nvPr>
        </p:nvGraphicFramePr>
        <p:xfrm>
          <a:off x="91440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작업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Stop Loss </a:t>
                      </a:r>
                      <a:r>
                        <a:rPr dirty="0" err="1"/>
                        <a:t>설정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종목별</a:t>
                      </a:r>
                      <a:r>
                        <a:rPr dirty="0"/>
                        <a:t> 10~20% </a:t>
                      </a:r>
                      <a:r>
                        <a:rPr dirty="0" err="1"/>
                        <a:t>하락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손절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적용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백테스트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과소/과다 Vol 종목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극단적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저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변동성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종목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필터링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밸류트랩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투기적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종목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MDD 축소 검증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방법의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하락장</a:t>
                      </a:r>
                      <a:r>
                        <a:rPr dirty="0"/>
                        <a:t>(22년 </a:t>
                      </a:r>
                      <a:r>
                        <a:rPr dirty="0" err="1"/>
                        <a:t>등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최대낙폭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개선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효과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분석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/>
                        <a:t>Trading Agent </a:t>
                      </a:r>
                      <a:r>
                        <a:rPr dirty="0" err="1"/>
                        <a:t>개발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회귀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팩터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보완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가치함정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필터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모멘텀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구분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82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519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주요 지표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MDD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5544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1F"/>
                </a:solidFill>
                <a:latin typeface="맑은 고딕"/>
              </a:defRPr>
            </a:pPr>
            <a:r>
              <a:t>백테스트 기간 중 고점 대비 가장 많이 빠진 비율</a:t>
            </a:r>
            <a:br/>
            <a:r>
              <a:t>매 시점에서 역대 최고점 대비 하락률 → 그 중 최대값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평균 회전율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1F"/>
                </a:solidFill>
                <a:latin typeface="맑은 고딕"/>
              </a:defRPr>
            </a:pPr>
            <a:r>
              <a:t>매월 (신규 편입 + 편출) / (2 × 전체 종목 수)</a:t>
            </a:r>
            <a:br/>
            <a:r>
              <a:t>높으면 거래비용 증가 → 백테스트에서 편도 30bp 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HHI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089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1F"/>
                </a:solidFill>
                <a:latin typeface="맑은 고딕"/>
              </a:defRPr>
            </a:pPr>
            <a:r>
              <a:t>포트폴리오 집중도: 각 종목 비중(%)² 합산</a:t>
            </a:r>
            <a:br/>
            <a:r>
              <a:t>30종목 균등이면 ≈333 / 높을수록 소수 종목에 집중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승률 (롤링 24개월)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089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1F"/>
                </a:solidFill>
                <a:latin typeface="맑은 고딕"/>
              </a:defRPr>
            </a:pPr>
            <a:r>
              <a:t>24개월 윈도우 이동하며 KOSPI200 대비 초과수익</a:t>
            </a:r>
            <a:br/>
            <a:r>
              <a:t>양수인 구간의 비율 (전략 간 비교가 아닌 vs 벤치마크)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맑은 고딕"/>
              </a:defRPr>
            </a:pPr>
            <a:r>
              <a:t>IS/OOS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6634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1F"/>
                </a:solidFill>
                <a:latin typeface="맑은 고딕"/>
              </a:defRPr>
            </a:pPr>
            <a:r>
              <a:t>과적합 검증 방법</a:t>
            </a:r>
            <a:br/>
            <a:r>
              <a:t>IS: 학습 기간 (좋은 게 당연) / OOS: 못 본 기간 (여기서도 좋아야 진짜)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1F1F"/>
                </a:solidFill>
                <a:latin typeface="맑은 고딕"/>
              </a:defRPr>
            </a:pPr>
            <a:r>
              <a:t>수정 반영 사항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288326"/>
              </p:ext>
            </p:extLst>
          </p:nvPr>
        </p:nvGraphicFramePr>
        <p:xfrm>
          <a:off x="1828800" y="16459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요청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반영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회귀only 전략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완료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성과지표 월별/연도별 집계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완료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최대 비중 15% →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완료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시총 하한 1조 → 5천억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완료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히트맵에 수치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완료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포트폴리오 특성 단순평균 표시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완료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en-US" altLang="ko-KR" dirty="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/>
                        <a:t>유니버스 </a:t>
                      </a:r>
                      <a:r>
                        <a:rPr lang="en"/>
                        <a:t>KOSPI</a:t>
                      </a:r>
                      <a:r>
                        <a:rPr lang="ko-KR" altLang="en-US"/>
                        <a:t>만</a:t>
                      </a:r>
                      <a:endParaRPr lang="ko-KR" altLang="en-US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798759-62D9-3C46-A137-D6C826DECAE0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4705</Words>
  <Application>Microsoft Macintosh PowerPoint</Application>
  <PresentationFormat>사용자 지정</PresentationFormat>
  <Paragraphs>748</Paragraphs>
  <Slides>21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-apple-system</vt:lpstr>
      <vt:lpstr>맑은 고딕</vt:lpstr>
      <vt:lpstr>Anthropic Serif</vt:lpstr>
      <vt:lpstr>var(--font-claude-response)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수경 남</cp:lastModifiedBy>
  <cp:revision>15</cp:revision>
  <dcterms:created xsi:type="dcterms:W3CDTF">2013-01-27T09:14:16Z</dcterms:created>
  <dcterms:modified xsi:type="dcterms:W3CDTF">2026-03-10T06:12:52Z</dcterms:modified>
  <cp:category/>
</cp:coreProperties>
</file>